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rel:Relationships xmlns:rel="http://schemas.openxmlformats.org/package/2006/relationships"><rel:Relationship Id="rId1" Type="http://schemas.openxmlformats.org/officeDocument/2006/relationships/officeDocument" Target="ppt/presentation.xml" /></rel:Relationships>
</file>

<file path=ppt/presentation.xml><?xml version="1.0" encoding="utf-8"?>
<p:presentation xmlns:p="http://schemas.openxmlformats.org/presentationml/2006/main" xmlns:r="http://schemas.openxmlformats.org/officeDocument/2006/relationships">
  <p:sldSz cx="12191695" cy="6858000"/>
  <p:notesSz cx="9144000" cy="6858000"/>
  <p:embeddedFontLst/>
  <p:sldIdLst>
    <p:sldId id="255"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MasterIdLst/>
  <p:notesMasterIdLst>
    <p:notesMasterId id="2" r:id="rId22"/>
  </p:notesMasterIdLst>
</p:presentation>
</file>

<file path=ppt/_rels/presentation.xml.rels><?xml version='1.0' encoding='utf-8'?>
<rel:Relationships xmlns:rel="http://schemas.openxmlformats.org/package/2006/relationships"><rel:Relationship Id="rId1" Type="http://schemas.openxmlformats.org/officeDocument/2006/relationships/slideMaster" Target="slideMasters/slideMaster1.xml" /><rel:Relationship Id="rId2" Type="http://schemas.openxmlformats.org/officeDocument/2006/relationships/slide" Target="slides/slide1.xml" /><rel:Relationship Id="rId3" Type="http://schemas.openxmlformats.org/officeDocument/2006/relationships/slide" Target="slides/slide2.xml" /><rel:Relationship Id="rId4" Type="http://schemas.openxmlformats.org/officeDocument/2006/relationships/slide" Target="slides/slide3.xml" /><rel:Relationship Id="rId5" Type="http://schemas.openxmlformats.org/officeDocument/2006/relationships/slide" Target="slides/slide4.xml" /><rel:Relationship Id="rId6" Type="http://schemas.openxmlformats.org/officeDocument/2006/relationships/slide" Target="slides/slide5.xml" /><rel:Relationship Id="rId7" Type="http://schemas.openxmlformats.org/officeDocument/2006/relationships/slide" Target="slides/slide6.xml" /><rel:Relationship Id="rId8" Type="http://schemas.openxmlformats.org/officeDocument/2006/relationships/slide" Target="slides/slide7.xml" /><rel:Relationship Id="rId9" Type="http://schemas.openxmlformats.org/officeDocument/2006/relationships/slide" Target="slides/slide8.xml" /><rel:Relationship Id="rId10" Type="http://schemas.openxmlformats.org/officeDocument/2006/relationships/slide" Target="slides/slide9.xml" /><rel:Relationship Id="rId11" Type="http://schemas.openxmlformats.org/officeDocument/2006/relationships/slide" Target="slides/slide10.xml" /><rel:Relationship Id="rId12" Type="http://schemas.openxmlformats.org/officeDocument/2006/relationships/slide" Target="slides/slide11.xml" /><rel:Relationship Id="rId13" Type="http://schemas.openxmlformats.org/officeDocument/2006/relationships/slide" Target="slides/slide12.xml" /><rel:Relationship Id="rId14" Type="http://schemas.openxmlformats.org/officeDocument/2006/relationships/slide" Target="slides/slide13.xml" /><rel:Relationship Id="rId15" Type="http://schemas.openxmlformats.org/officeDocument/2006/relationships/slide" Target="slides/slide14.xml" /><rel:Relationship Id="rId16" Type="http://schemas.openxmlformats.org/officeDocument/2006/relationships/slide" Target="slides/slide15.xml" /><rel:Relationship Id="rId17" Type="http://schemas.openxmlformats.org/officeDocument/2006/relationships/slide" Target="slides/slide16.xml" /><rel:Relationship Id="rId18" Type="http://schemas.openxmlformats.org/officeDocument/2006/relationships/slide" Target="slides/slide17.xml" /><rel:Relationship Id="rId19" Type="http://schemas.openxmlformats.org/officeDocument/2006/relationships/slide" Target="slides/slide18.xml" /><rel:Relationship Id="rId20" Type="http://schemas.openxmlformats.org/officeDocument/2006/relationships/slide" Target="slides/slide19.xml" /><rel:Relationship Id="rId21" Type="http://schemas.openxmlformats.org/officeDocument/2006/relationships/slide" Target="slides/slide20.xml" /><rel:Relationship Id="rId22" Type="http://schemas.openxmlformats.org/officeDocument/2006/relationships/notesMaster" Target="notesMasters/notesMaster1.xml" /></rel:Relationships>
</file>

<file path=ppt/notesMasters/_rels/notesMaster1.xml.rels><?xml version='1.0' encoding='utf-8'?>
<rel:Relationships xmlns:rel="http://schemas.openxmlformats.org/package/2006/relationships"><rel:Relationship Id="rId1" Type="http://schemas.openxmlformats.org/officeDocument/2006/relationships/theme" Target="../theme/theme1.xml" /></re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spTree>
      <p:nvGrpSpPr>
        <p:cNvPr id="1" name=""/>
        <p:cNvGrpSpPr/>
        <p:nvPr/>
      </p:nvGrpSpPr>
      <p:grpSpPr/>
    </p:spTree>
  </p:cSld>
  <p:clrMap accent1="accent1" accent2="accent2" accent3="accent3" accent4="accent4" accent5="accent5" accent6="accent6" bg1="lt1" bg2="lt2" folHlink="folHlink" hlink="hlink" tx1="dk1" tx2="dk2"/>
</p:notesMaster>
</file>

<file path=ppt/notesSlides/_rels/notesSlide1.xml.rels><?xml version='1.0' encoding='utf-8'?>
<rel:Relationships xmlns:rel="http://schemas.openxmlformats.org/package/2006/relationships"><rel:Relationship Id="rId1" Type="http://schemas.openxmlformats.org/officeDocument/2006/relationships/slide" Target="../slides/slide1.xml" /><rel:Relationship Id="rId2" Type="http://schemas.openxmlformats.org/officeDocument/2006/relationships/notesMaster" Target="../notesMasters/notesMaster1.xml" /></rel:Relationships>
</file>

<file path=ppt/notesSlides/_rels/notesSlide2.xml.rels><?xml version='1.0' encoding='utf-8'?>
<rel:Relationships xmlns:rel="http://schemas.openxmlformats.org/package/2006/relationships"><rel:Relationship Id="rId1" Type="http://schemas.openxmlformats.org/officeDocument/2006/relationships/slide" Target="../slides/slide2.xml" /><rel:Relationship Id="rId2" Type="http://schemas.openxmlformats.org/officeDocument/2006/relationships/notesMaster" Target="../notesMasters/notesMaster1.xml" /></rel:Relationships>
</file>

<file path=ppt/notesSlides/_rels/notesSlide3.xml.rels><?xml version='1.0' encoding='utf-8'?>
<rel:Relationships xmlns:rel="http://schemas.openxmlformats.org/package/2006/relationships"><rel:Relationship Id="rId1" Type="http://schemas.openxmlformats.org/officeDocument/2006/relationships/slide" Target="../slides/slide3.xml" /><rel:Relationship Id="rId2" Type="http://schemas.openxmlformats.org/officeDocument/2006/relationships/notesMaster" Target="../notesMasters/notesMaster1.xml" /></rel:Relationships>
</file>

<file path=ppt/notesSlides/_rels/notesSlide4.xml.rels><?xml version='1.0' encoding='utf-8'?>
<rel:Relationships xmlns:rel="http://schemas.openxmlformats.org/package/2006/relationships"><rel:Relationship Id="rId1" Type="http://schemas.openxmlformats.org/officeDocument/2006/relationships/slide" Target="../slides/slide4.xml" /><rel:Relationship Id="rId2" Type="http://schemas.openxmlformats.org/officeDocument/2006/relationships/notesMaster" Target="../notesMasters/notesMaster1.xml" /></rel:Relationships>
</file>

<file path=ppt/notesSlides/_rels/notesSlide5.xml.rels><?xml version='1.0' encoding='utf-8'?>
<rel:Relationships xmlns:rel="http://schemas.openxmlformats.org/package/2006/relationships"><rel:Relationship Id="rId1" Type="http://schemas.openxmlformats.org/officeDocument/2006/relationships/slide" Target="../slides/slide5.xml" /><rel:Relationship Id="rId2" Type="http://schemas.openxmlformats.org/officeDocument/2006/relationships/notesMaster" Target="../notesMasters/notesMaster1.xml" /></rel:Relationships>
</file>

<file path=ppt/notesSlides/_rels/notesSlide6.xml.rels><?xml version='1.0' encoding='utf-8'?>
<rel:Relationships xmlns:rel="http://schemas.openxmlformats.org/package/2006/relationships"><rel:Relationship Id="rId1" Type="http://schemas.openxmlformats.org/officeDocument/2006/relationships/slide" Target="../slides/slide6.xml" /><rel:Relationship Id="rId2" Type="http://schemas.openxmlformats.org/officeDocument/2006/relationships/notesMaster" Target="../notesMasters/notesMaster1.xml" /></rel:Relationships>
</file>

<file path=ppt/notesSlides/_rels/notesSlide7.xml.rels><?xml version='1.0' encoding='utf-8'?>
<rel:Relationships xmlns:rel="http://schemas.openxmlformats.org/package/2006/relationships"><rel:Relationship Id="rId1" Type="http://schemas.openxmlformats.org/officeDocument/2006/relationships/slide" Target="../slides/slide7.xml" /><rel:Relationship Id="rId2" Type="http://schemas.openxmlformats.org/officeDocument/2006/relationships/notesMaster" Target="../notesMasters/notesMaster1.xml" /></rel:Relationships>
</file>

<file path=ppt/notesSlides/_rels/notesSlide8.xml.rels><?xml version='1.0' encoding='utf-8'?>
<rel:Relationships xmlns:rel="http://schemas.openxmlformats.org/package/2006/relationships"><rel:Relationship Id="rId1" Type="http://schemas.openxmlformats.org/officeDocument/2006/relationships/slide" Target="../slides/slide8.xml" /><rel:Relationship Id="rId2" Type="http://schemas.openxmlformats.org/officeDocument/2006/relationships/notesMaster" Target="../notesMasters/notesMaster1.xml" /></rel:Relationships>
</file>

<file path=ppt/notesSlides/_rels/notesSlide9.xml.rels><?xml version='1.0' encoding='utf-8'?>
<rel:Relationships xmlns:rel="http://schemas.openxmlformats.org/package/2006/relationships"><rel:Relationship Id="rId1" Type="http://schemas.openxmlformats.org/officeDocument/2006/relationships/slide" Target="../slides/slide9.xml" /><rel:Relationship Id="rId2" Type="http://schemas.openxmlformats.org/officeDocument/2006/relationships/notesMaster" Target="../notesMasters/notesMaster1.xml" /></rel:Relationships>
</file>

<file path=ppt/notesSlides/_rels/notesSlide10.xml.rels><?xml version='1.0' encoding='utf-8'?>
<rel:Relationships xmlns:rel="http://schemas.openxmlformats.org/package/2006/relationships"><rel:Relationship Id="rId1" Type="http://schemas.openxmlformats.org/officeDocument/2006/relationships/slide" Target="../slides/slide10.xml" /><rel:Relationship Id="rId2" Type="http://schemas.openxmlformats.org/officeDocument/2006/relationships/notesMaster" Target="../notesMasters/notesMaster1.xml" /></rel:Relationships>
</file>

<file path=ppt/notesSlides/_rels/notesSlide11.xml.rels><?xml version='1.0' encoding='utf-8'?>
<rel:Relationships xmlns:rel="http://schemas.openxmlformats.org/package/2006/relationships"><rel:Relationship Id="rId1" Type="http://schemas.openxmlformats.org/officeDocument/2006/relationships/slide" Target="../slides/slide11.xml" /><rel:Relationship Id="rId2" Type="http://schemas.openxmlformats.org/officeDocument/2006/relationships/notesMaster" Target="../notesMasters/notesMaster1.xml" /></rel:Relationships>
</file>

<file path=ppt/notesSlides/_rels/notesSlide12.xml.rels><?xml version='1.0' encoding='utf-8'?>
<rel:Relationships xmlns:rel="http://schemas.openxmlformats.org/package/2006/relationships"><rel:Relationship Id="rId1" Type="http://schemas.openxmlformats.org/officeDocument/2006/relationships/slide" Target="../slides/slide12.xml" /><rel:Relationship Id="rId2" Type="http://schemas.openxmlformats.org/officeDocument/2006/relationships/notesMaster" Target="../notesMasters/notesMaster1.xml" /></rel:Relationships>
</file>

<file path=ppt/notesSlides/_rels/notesSlide13.xml.rels><?xml version='1.0' encoding='utf-8'?>
<rel:Relationships xmlns:rel="http://schemas.openxmlformats.org/package/2006/relationships"><rel:Relationship Id="rId1" Type="http://schemas.openxmlformats.org/officeDocument/2006/relationships/slide" Target="../slides/slide13.xml" /><rel:Relationship Id="rId2" Type="http://schemas.openxmlformats.org/officeDocument/2006/relationships/notesMaster" Target="../notesMasters/notesMaster1.xml" /></rel:Relationships>
</file>

<file path=ppt/notesSlides/_rels/notesSlide14.xml.rels><?xml version='1.0' encoding='utf-8'?>
<rel:Relationships xmlns:rel="http://schemas.openxmlformats.org/package/2006/relationships"><rel:Relationship Id="rId1" Type="http://schemas.openxmlformats.org/officeDocument/2006/relationships/slide" Target="../slides/slide14.xml" /><rel:Relationship Id="rId2" Type="http://schemas.openxmlformats.org/officeDocument/2006/relationships/notesMaster" Target="../notesMasters/notesMaster1.xml" /></rel:Relationships>
</file>

<file path=ppt/notesSlides/_rels/notesSlide15.xml.rels><?xml version='1.0' encoding='utf-8'?>
<rel:Relationships xmlns:rel="http://schemas.openxmlformats.org/package/2006/relationships"><rel:Relationship Id="rId1" Type="http://schemas.openxmlformats.org/officeDocument/2006/relationships/slide" Target="../slides/slide15.xml" /><rel:Relationship Id="rId2" Type="http://schemas.openxmlformats.org/officeDocument/2006/relationships/notesMaster" Target="../notesMasters/notesMaster1.xml" /></rel:Relationships>
</file>

<file path=ppt/notesSlides/_rels/notesSlide16.xml.rels><?xml version='1.0' encoding='utf-8'?>
<rel:Relationships xmlns:rel="http://schemas.openxmlformats.org/package/2006/relationships"><rel:Relationship Id="rId1" Type="http://schemas.openxmlformats.org/officeDocument/2006/relationships/slide" Target="../slides/slide16.xml" /><rel:Relationship Id="rId2" Type="http://schemas.openxmlformats.org/officeDocument/2006/relationships/notesMaster" Target="../notesMasters/notesMaster1.xml" /></rel:Relationships>
</file>

<file path=ppt/notesSlides/_rels/notesSlide17.xml.rels><?xml version='1.0' encoding='utf-8'?>
<rel:Relationships xmlns:rel="http://schemas.openxmlformats.org/package/2006/relationships"><rel:Relationship Id="rId1" Type="http://schemas.openxmlformats.org/officeDocument/2006/relationships/slide" Target="../slides/slide17.xml" /><rel:Relationship Id="rId2" Type="http://schemas.openxmlformats.org/officeDocument/2006/relationships/notesMaster" Target="../notesMasters/notesMaster1.xml" /></rel:Relationships>
</file>

<file path=ppt/notesSlides/_rels/notesSlide18.xml.rels><?xml version='1.0' encoding='utf-8'?>
<rel:Relationships xmlns:rel="http://schemas.openxmlformats.org/package/2006/relationships"><rel:Relationship Id="rId1" Type="http://schemas.openxmlformats.org/officeDocument/2006/relationships/slide" Target="../slides/slide18.xml" /><rel:Relationship Id="rId2" Type="http://schemas.openxmlformats.org/officeDocument/2006/relationships/notesMaster" Target="../notesMasters/notesMaster1.xml" /></rel:Relationships>
</file>

<file path=ppt/notesSlides/_rels/notesSlide19.xml.rels><?xml version='1.0' encoding='utf-8'?>
<rel:Relationships xmlns:rel="http://schemas.openxmlformats.org/package/2006/relationships"><rel:Relationship Id="rId1" Type="http://schemas.openxmlformats.org/officeDocument/2006/relationships/slide" Target="../slides/slide19.xml" /><rel:Relationship Id="rId2" Type="http://schemas.openxmlformats.org/officeDocument/2006/relationships/notesMaster" Target="../notesMasters/notesMaster1.xml" /></rel:Relationships>
</file>

<file path=ppt/notesSlides/_rels/notesSlide20.xml.rels><?xml version='1.0' encoding='utf-8'?>
<rel:Relationships xmlns:rel="http://schemas.openxmlformats.org/package/2006/relationships"><rel:Relationship Id="rId1" Type="http://schemas.openxmlformats.org/officeDocument/2006/relationships/slide" Target="../slides/slide20.xml" /><rel:Relationship Id="rId2" Type="http://schemas.openxmlformats.org/officeDocument/2006/relationships/notesMaster" Target="../notesMasters/notesMaster1.xml" /></rel:Relationships>
</file>

<file path=ppt/notesSlides/notesSlide1.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Open with the central tension. RDMA is fast because packet work is offloaded to RNIC hardware. The paper asks whether the fabric must prevent every data-packet loss, or whether endpoints and switches can cooperate to recover losses quickly. Scope: RoCEv2 over Ethernet; this is not a claim about every RDMA transport.</a:t>
            </a:r>
            <a:endParaRPr lang="en-US" sz="1200"/>
          </a:p>
        </p:txBody>
      </p:sp>
    </p:spTree>
  </p:cSld>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A socket abstraction normally places the kernel networking stack between the application and NIC. Avoid overclaiming: modern sockets can use zero-copy or offload features. The comparison is about the usual division of work: RDMA pushes more per-packet work into the RNIC and away from the host software path.</a:t>
            </a:r>
            <a:endParaRPr lang="en-US" sz="1200"/>
          </a:p>
        </p:txBody>
      </p:sp>
    </p:spTree>
  </p:cSld>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RDMA means Remote Direct Memory Access. A process registers memory and posts a work request to a queue pair. The RNIC uses DMA, forms packets, handles much of the transport work, and the remote RNIC places data in the intended memory region. The CPU still participates in setup and completions; it is not removed entirely.</a:t>
            </a:r>
            <a:endParaRPr lang="en-US" sz="1200"/>
          </a:p>
        </p:txBody>
      </p:sp>
    </p:spTree>
  </p:cSld>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Keep this simple. A QP is the endpoint state used by RDMA. A WQE describes an operation. PSN labels packets; MSN labels messages. Later, DCP uses a returned header carrying packet identity, and uses message-level counters at the receiver.</a:t>
            </a:r>
            <a:endParaRPr lang="en-US" sz="1200"/>
          </a:p>
        </p:txBody>
      </p:sp>
    </p:spTree>
  </p:cSld>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The paper says traditional RoCEv2 RNICs inherit Go-Back-N from lossless InfiniBand-style assumptions. Go-Back-N is easy to implement but performs poorly when packets are actually dropped. Selective repeat improves this by retransmitting selected packets, but it needs more state and must distinguish loss from reordering.</a:t>
            </a:r>
            <a:endParaRPr lang="en-US" sz="1200"/>
          </a:p>
        </p:txBody>
      </p:sp>
    </p:spTree>
  </p:cSld>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Priority Flow Control sends PAUSE when an ingress queue crosses a threshold and RESUME after it drains. The paper lists head-of-line blocking, congestion spreading, deadlock, operational complexity, and distance limits. The paper’s Table 1 reports kilometre-scale maximum lossless lengths for listed commodity ASIC configurations; present it as the paper’s buffer/headroom calculation, not a universal limit.</a:t>
            </a:r>
            <a:endParaRPr lang="en-US" sz="1200"/>
          </a:p>
        </p:txBody>
      </p:sp>
    </p:spTree>
  </p:cSld>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Emphasize the distinction: lossy describes what the fabric may do to individual data packets; it does not mean the RDMA operation is allowed to return incorrect data. The design goal is to remove dependence on PFC while preserving reliable completion and hardware offload.</a:t>
            </a:r>
            <a:endParaRPr lang="en-US" sz="1200"/>
          </a:p>
        </p:txBody>
      </p:sp>
    </p:spTree>
  </p:cSld>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The paper analyzes IRN as a representative RNIC selective-repeat design; do not generalize every SR design from this example. IRN’s receiver sends SACKs on out-of-order arrivals, and the sender uses a bitmap to track acknowledged/missing packets. Packet-level load balancing can produce 1, 3, 2 even when packet 2 is merely late. The paper reports spurious retransmissions in an NS-3 WebSearch experiment with no observed packet loss; cite the paper’s exact percentages only when showing Figure 1.</a:t>
            </a:r>
            <a:endParaRPr lang="en-US" sz="1200"/>
          </a:p>
        </p:txBody>
      </p:sp>
    </p:spTree>
  </p:cSld>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Clarify the tradeoff. ECMP keeps a flow on one path, which reduces reordering but can suffer hash collisions. Packet-level routing can spread load and avoid hotspots but requires order-tolerant endpoints. The paper’s claim is that IRN-style inference can spuriously retransmit under packet-level routing.</a:t>
            </a:r>
            <a:endParaRPr lang="en-US" sz="1200"/>
          </a:p>
        </p:txBody>
      </p:sp>
    </p:spTree>
  </p:cSld>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A tail packet has no later packet to trigger a SACK. The paper also discusses retransmitted packets being dropped again during a congestion episode. These cases fall back to retransmission timeout. Phrase the DCP comparison carefully: in the paper’s reported experiment, DCP flows experienced no timeout; this is not a universal guarantee.</a:t>
            </a:r>
            <a:endParaRPr lang="en-US" sz="1200"/>
          </a:p>
        </p:txBody>
      </p:sp>
    </p:spTree>
  </p:cSld>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Read these as the paper’s requirements R1–R4. This slide is the bridge from motivation to design. The most important conceptual move is to separate a lossy data plane from a small control plane that carries precise loss evidence.</a:t>
            </a:r>
            <a:endParaRPr lang="en-US" sz="1200"/>
          </a:p>
        </p:txBody>
      </p:sp>
    </p:spTree>
  </p:cSld>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Normal full packets are not split: the switch forwards the full packet through the data queue when the congested egress is below threshold. Only at a congested egress does it trim the payload, change the DCP tag, and queue a 57-byte header-only packet in the control queue. WRR prioritizes the control queue. Qualification: the paper says HO loss is very rare, not impossible; it measures 0.16% HO loss in one extreme incast condition without congestion control. ACK traffic uses the data queue, so do not call all control traffic lossless.</a:t>
            </a:r>
            <a:endParaRPr lang="en-US" sz="1200"/>
          </a:p>
        </p:txBody>
      </p:sp>
    </p:spTree>
  </p:cSld>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The header-only packet travels to the receiver first; it is never sent directly from switch to sender. The receiver uses its peer context to rewrite the destination QPN/addressing for the return packet, then sends the HO back. The sender retransmits the packet identified by its PSN. DCP stores retransmission entries and fetches them in batches.</a:t>
            </a:r>
            <a:endParaRPr lang="en-US" sz="1200"/>
          </a:p>
        </p:txBody>
      </p:sp>
    </p:spTree>
  </p:cSld>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DCP extends headers so the receiver can place out-of-order packets directly into the right memory locations. For writes, remote-memory information is included in all packets; for two-sided operations, SSN helps match receive work requests. The receiver counts arrivals per message and compares with message size. Retry numbers prevent fallback retransmissions from corrupting the count. Table 3’s comparison is specifically 32 B versus 320 B per-QP at 400 Gb/s and 10 μs RTT; for 10,000 QPs it is 0.3 MB versus 3 MB. This is packet-tracking state, not entire RNIC memory.</a:t>
            </a:r>
            <a:endParaRPr lang="en-US" sz="1200"/>
          </a:p>
        </p:txBody>
      </p:sp>
    </p:spTree>
  </p:cSld>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If the header-only path is lost or a link/switch fails, DCP falls back to a coarse-grained timeout and retransmits the unacknowledged message. This is a fallback, not the fast path. The paper implements DCP-Switch in P4 and DCP-RNIC on FPGA. Table 4 reports increases relative to RNIC-GBN of 1.7% LUT, 0.4% registers, and 1.1% BRAM; these are resource deltas, not CPU load or FPGA percentage points. Do not imply a commercial deployment.</a:t>
            </a:r>
            <a:endParaRPr lang="en-US" sz="1200"/>
          </a:p>
        </p:txBody>
      </p:sp>
    </p:spTree>
  </p:cSld>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This slide prevents category errors. The controlled-loss 1.6×–72× result is a hardware-testbed goodput/recovery comparison against CX5. The 33%/42% AI numbers are testbed job-completion results. WebSearch and cross-DC results are large-scale NS-3 simulations. Keep these evidence types visibly separate.</a:t>
            </a:r>
            <a:endParaRPr lang="en-US" sz="1200"/>
          </a:p>
        </p:txBody>
      </p:sp>
    </p:spTree>
  </p:cSld>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The left side summarizes reported relative reductions, not raw FCT values. At load 0.3, DCP’s average P95 tail FCT is reported 5% lower than IRN and 16% lower than MP-RDMA; at load 0.5, 10% and 12% lower. The AI collective numbers are from NS-3 simulations in Figure 14, not the direct hardware testbed; the draft correction file distinguishes these carefully.</a:t>
            </a:r>
            <a:endParaRPr lang="en-US" sz="1200"/>
          </a:p>
        </p:txBody>
      </p:sp>
    </p:spTree>
  </p:cSld>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The paper reports around 85 Gb/s on a 10-km optical link in a hardware test. It also simulates larger propagation delays corresponding to cross-DC cases. Keep the two evidence types separate. Most important: reliability recovery does not regulate offered load. The paper’s severe-incast result shows congestion control is still needed, and one Table 5 condition has nonzero HO loss without CC.</a:t>
            </a:r>
            <a:endParaRPr lang="en-US" sz="1200"/>
          </a:p>
        </p:txBody>
      </p:sp>
    </p:spTree>
  </p:cSld>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Do not present these as measured failures unless the paper reports them. They are perspective questions grounded in the reference corrections. The main critique is conditionality: protected HO delivery depends on traffic and scheduling assumptions; fallback timeouts remain; modified switches, RNICs, and headers must agree; and counting semantics are delicate under retries and duplicates.</a:t>
            </a:r>
            <a:endParaRPr lang="en-US" sz="1200"/>
          </a:p>
        </p:txBody>
      </p:sp>
    </p:spTree>
  </p:cSld>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p:sp>
        <p:nvSpPr>
          <p:cNvPr id="1" name="Notes Placeholder"/>
          <p:cNvSpPr/>
          <p:nvPr/>
        </p:nvSpPr>
        <p:spPr/>
        <p:txBody>
          <a:bodyPr/>
          <a:lstStyle/>
          <a:p>
            <a:r>
              <a:rPr lang="en-US" sz="1200"/>
              <a:t>Close with the architecture rather than the percentages. DCP reframes reliability: allow data packets to be dropped, but make the loss explicit, cheap to report, and fast to repair. Invite discussion around deployment, counting, and whether the control-plane assumption is operationally attractive.</a:t>
            </a:r>
            <a:endParaRPr lang="en-US" sz="1200"/>
          </a:p>
        </p:txBody>
      </p:sp>
    </p:spTree>
  </p:cSld>
  <p:clrMapOvr/>
</p:notes>
</file>

<file path=ppt/slideLayouts/_rels/slideLayout1.xml.rels><?xml version='1.0' encoding='utf-8'?>
<rel:Relationships xmlns:rel="http://schemas.openxmlformats.org/package/2006/relationships"><rel:Relationship Id="rId1" Type="http://schemas.openxmlformats.org/officeDocument/2006/relationships/slideMaster" Target="../slideMasters/slideMaster1.xml" /></re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theme" Target="../theme/theme1.xml" /></re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p:spTree>
  </p:cSld>
  <p:sldLayoutIdLst>
    <p:sldLayoutId id="1" r:id="rId1"/>
  </p:sldLayoutIdLst>
  <p:txStyles/>
</p:sldMaster>
</file>

<file path=ppt/slides/_rels/slide1.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xml" /></rel:Relationships>
</file>

<file path=ppt/slides/_rels/slide2.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2.xml" /></rel:Relationships>
</file>

<file path=ppt/slides/_rels/slide3.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3.xml" /></rel:Relationships>
</file>

<file path=ppt/slides/_rels/slide4.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4.xml" /></rel:Relationships>
</file>

<file path=ppt/slides/_rels/slide5.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5.xml" /></rel:Relationships>
</file>

<file path=ppt/slides/_rels/slide6.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6.xml" /></rel:Relationships>
</file>

<file path=ppt/slides/_rels/slide7.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7.xml" /></rel:Relationships>
</file>

<file path=ppt/slides/_rels/slide8.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8.xml" /></rel:Relationships>
</file>

<file path=ppt/slides/_rels/slide9.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9.xml" /></rel:Relationships>
</file>

<file path=ppt/slides/_rels/slide10.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0.xml" /></rel:Relationships>
</file>

<file path=ppt/slides/_rels/slide11.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1.xml" /></rel:Relationships>
</file>

<file path=ppt/slides/_rels/slide12.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2.xml" /></rel:Relationships>
</file>

<file path=ppt/slides/_rels/slide13.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3.xml" /></rel:Relationships>
</file>

<file path=ppt/slides/_rels/slide14.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4.xml" /></rel:Relationships>
</file>

<file path=ppt/slides/_rels/slide15.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5.xml" /></rel:Relationships>
</file>

<file path=ppt/slides/_rels/slide16.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6.xml" /></rel:Relationships>
</file>

<file path=ppt/slides/_rels/slide17.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7.xml" /></rel:Relationships>
</file>

<file path=ppt/slides/_rels/slide18.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8.xml" /></rel:Relationships>
</file>

<file path=ppt/slides/_rels/slide19.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19.xml" /></rel:Relationships>
</file>

<file path=ppt/slides/_rels/slide20.xml.rels><?xml version='1.0' encoding='utf-8'?>
<rel:Relationships xmlns:rel="http://schemas.openxmlformats.org/package/2006/relationships"><rel:Relationship Id="rId1" Type="http://schemas.openxmlformats.org/officeDocument/2006/relationships/slideLayout" Target="../slideLayouts/slideLayout1.xml" /><rel:Relationship Id="rId2" Type="http://schemas.openxmlformats.org/officeDocument/2006/relationships/notesSlide" Target="../notesSlides/notesSlide20.xml" /></rel:Relationships>
</file>

<file path=ppt/slides/slide1.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The question</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0:30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Abstract; §1</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a:t>
            </a:r>
            <a:endParaRPr lang="en-US" sz="900"/>
          </a:p>
        </p:txBody>
      </p:sp>
      <p:sp>
        <p:nvSpPr>
          <p:cNvPr id="5" name="Text 5"/>
          <p:cNvSpPr/>
          <p:nvPr/>
        </p:nvSpPr>
        <p:spPr>
          <a:xfrm>
            <a:off x="685800" y="914400"/>
            <a:ext cx="5577840" cy="2148840"/>
          </a:xfrm>
          <a:prstGeom prst="rect">
            <a:avLst/>
          </a:prstGeom>
          <a:noFill/>
          <a:ln>
            <a:noFill/>
          </a:ln>
        </p:spPr>
        <p:txBody>
          <a:bodyPr wrap="square" lIns="73152" rIns="73152" tIns="73152" bIns="73152">
            <a:lstStyle/>
          </a:bodyPr>
          <a:p>
            <a:pPr algn="l" marL="0"/>
            <a:r>
              <a:rPr lang="en-US" sz="3100" b="1" i="0">
                <a:solidFill>
                  <a:srgbClr val="14213D"/>
                </a:solidFill>
                <a:latin typeface="Aptos"/>
              </a:rPr>
              <a:t>Revisiting</a:t>
            </a:r>
            <a:endParaRPr lang="en-US" sz="3100"/>
          </a:p>
          <a:p>
            <a:pPr algn="l"/>
            <a:r>
              <a:rPr lang="en-US" sz="3100" b="1" i="0">
                <a:solidFill>
                  <a:srgbClr val="14213D"/>
                </a:solidFill>
                <a:latin typeface="Aptos"/>
              </a:rPr>
              <a:t>RDMA Reliability</a:t>
            </a:r>
            <a:endParaRPr lang="en-US" sz="3100"/>
          </a:p>
          <a:p>
            <a:pPr algn="l"/>
            <a:r>
              <a:rPr lang="en-US" sz="3100" b="1" i="0">
                <a:solidFill>
                  <a:srgbClr val="14213D"/>
                </a:solidFill>
                <a:latin typeface="Aptos"/>
              </a:rPr>
              <a:t>for Lossy Fabrics</a:t>
            </a:r>
            <a:endParaRPr lang="en-US" sz="3100"/>
          </a:p>
        </p:txBody>
      </p:sp>
      <p:sp>
        <p:nvSpPr>
          <p:cNvPr id="6" name="Text 6"/>
          <p:cNvSpPr/>
          <p:nvPr/>
        </p:nvSpPr>
        <p:spPr>
          <a:xfrm>
            <a:off x="731520" y="3429000"/>
            <a:ext cx="5303520" cy="320040"/>
          </a:xfrm>
          <a:prstGeom prst="rect">
            <a:avLst/>
          </a:prstGeom>
          <a:noFill/>
          <a:ln>
            <a:noFill/>
          </a:ln>
        </p:spPr>
        <p:txBody>
          <a:bodyPr wrap="square" lIns="73152" rIns="73152" tIns="73152" bIns="73152">
            <a:lstStyle/>
          </a:bodyPr>
          <a:p>
            <a:pPr algn="l"/>
            <a:r>
              <a:rPr lang="en-US" sz="1700" b="0" i="0">
                <a:solidFill>
                  <a:srgbClr val="5B677A"/>
                </a:solidFill>
                <a:latin typeface="Aptos"/>
              </a:rPr>
              <a:t>Wenxue Li et al. · ACM SIGCOMM 2025</a:t>
            </a:r>
            <a:endParaRPr lang="en-US" sz="1700"/>
          </a:p>
        </p:txBody>
      </p:sp>
      <p:sp>
        <p:nvSpPr>
          <p:cNvPr id="7" name="Text 7"/>
          <p:cNvSpPr/>
          <p:nvPr/>
        </p:nvSpPr>
        <p:spPr>
          <a:xfrm>
            <a:off x="6675120" y="1325880"/>
            <a:ext cx="4297680" cy="1234440"/>
          </a:xfrm>
          <a:prstGeom prst="roundRect">
            <a:avLst/>
          </a:prstGeom>
          <a:solidFill>
            <a:srgbClr val="EAF1FF"/>
          </a:solidFill>
          <a:ln w="11430">
            <a:solidFill>
              <a:srgbClr val="2F6FED"/>
            </a:solidFill>
          </a:ln>
        </p:spPr>
        <p:txBody>
          <a:bodyPr wrap="square" lIns="91440" rIns="91440" tIns="91440" bIns="91440" anchor="ctr">
            <a:lstStyle/>
          </a:bodyPr>
          <a:p>
            <a:pPr algn="ctr" marL="0"/>
            <a:r>
              <a:rPr lang="en-US" sz="2000" b="1" i="0">
                <a:solidFill>
                  <a:srgbClr val="18212F"/>
                </a:solidFill>
                <a:latin typeface="Aptos"/>
              </a:rPr>
              <a:t>Can packet loss coexist</a:t>
            </a:r>
            <a:endParaRPr lang="en-US" sz="2000"/>
          </a:p>
          <a:p>
            <a:pPr algn="ctr"/>
            <a:r>
              <a:rPr lang="en-US" sz="2000" b="1" i="0">
                <a:solidFill>
                  <a:srgbClr val="18212F"/>
                </a:solidFill>
                <a:latin typeface="Aptos"/>
              </a:rPr>
              <a:t>with fast, hardware-offloaded RDMA?</a:t>
            </a:r>
            <a:endParaRPr lang="en-US" sz="2000"/>
          </a:p>
        </p:txBody>
      </p:sp>
      <p:sp>
        <p:nvSpPr>
          <p:cNvPr id="8" name="Text 8"/>
          <p:cNvSpPr/>
          <p:nvPr/>
        </p:nvSpPr>
        <p:spPr>
          <a:xfrm>
            <a:off x="6675120" y="2971800"/>
            <a:ext cx="4297680" cy="100584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500" b="0" i="0">
                <a:solidFill>
                  <a:srgbClr val="18212F"/>
                </a:solidFill>
                <a:latin typeface="Aptos"/>
              </a:rPr>
              <a:t>Today’s arc</a:t>
            </a:r>
            <a:endParaRPr lang="en-US" sz="1500"/>
          </a:p>
          <a:p>
            <a:pPr algn="ctr"/>
            <a:r>
              <a:rPr lang="en-US" sz="1500" b="0" i="0">
                <a:solidFill>
                  <a:srgbClr val="18212F"/>
                </a:solidFill>
                <a:latin typeface="Aptos"/>
              </a:rPr>
              <a:t>background → motivation → DCP → evidence → critique</a:t>
            </a:r>
            <a:endParaRPr lang="en-US" sz="1500"/>
          </a:p>
        </p:txBody>
      </p:sp>
      <p:sp>
        <p:nvSpPr>
          <p:cNvPr id="9" name="Text 9"/>
          <p:cNvSpPr/>
          <p:nvPr/>
        </p:nvSpPr>
        <p:spPr>
          <a:xfrm>
            <a:off x="6903720" y="4846320"/>
            <a:ext cx="3931920" cy="274320"/>
          </a:xfrm>
          <a:prstGeom prst="rect">
            <a:avLst/>
          </a:prstGeom>
          <a:noFill/>
          <a:ln>
            <a:noFill/>
          </a:ln>
        </p:spPr>
        <p:txBody>
          <a:bodyPr wrap="square" lIns="73152" rIns="73152" tIns="73152" bIns="73152">
            <a:lstStyle/>
          </a:bodyPr>
          <a:p>
            <a:pPr algn="ctr"/>
            <a:r>
              <a:rPr lang="en-US" sz="1400" b="1" i="0">
                <a:solidFill>
                  <a:srgbClr val="176B4C"/>
                </a:solidFill>
                <a:latin typeface="Aptos"/>
              </a:rPr>
              <a:t>RoCEv2 · data-centre networks</a:t>
            </a:r>
            <a:endParaRPr lang="en-US" sz="1400"/>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Baseline: conventional socket communication</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Networking reference; systems comparison</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2</a:t>
            </a:r>
            <a:endParaRPr lang="en-US" sz="900"/>
          </a:p>
        </p:txBody>
      </p:sp>
      <p:sp>
        <p:nvSpPr>
          <p:cNvPr id="5" name="Text 5"/>
          <p:cNvSpPr/>
          <p:nvPr/>
        </p:nvSpPr>
        <p:spPr>
          <a:xfrm>
            <a:off x="640080" y="1143000"/>
            <a:ext cx="4937760" cy="3200400"/>
          </a:xfrm>
          <a:prstGeom prst="rect">
            <a:avLst/>
          </a:prstGeom>
          <a:noFill/>
          <a:ln>
            <a:noFill/>
          </a:ln>
        </p:spPr>
        <p:txBody>
          <a:bodyPr wrap="square" lIns="27432" rIns="27432" tIns="27432" bIns="27432">
            <a:lstStyle/>
          </a:bodyPr>
          <a:p>
            <a:pPr algn="l"/>
            <a:r>
              <a:rPr lang="en-US" sz="1700" b="0" i="0">
                <a:solidFill>
                  <a:srgbClr val="18212F"/>
                </a:solidFill>
                <a:latin typeface="Aptos"/>
              </a:rPr>
              <a:t>• Application calls send()/recv()</a:t>
            </a:r>
            <a:endParaRPr lang="en-US" sz="1700"/>
          </a:p>
          <a:p>
            <a:pPr algn="l"/>
            <a:r>
              <a:rPr lang="en-US" sz="1700" b="0" i="0">
                <a:solidFill>
                  <a:srgbClr val="18212F"/>
                </a:solidFill>
                <a:latin typeface="Aptos"/>
              </a:rPr>
              <a:t>• Kernel manages sockets, transport state, buffering, and delivery</a:t>
            </a:r>
            <a:endParaRPr lang="en-US" sz="1700"/>
          </a:p>
          <a:p>
            <a:pPr algn="l"/>
            <a:r>
              <a:rPr lang="en-US" sz="1700" b="0" i="0">
                <a:solidFill>
                  <a:srgbClr val="18212F"/>
                </a:solidFill>
                <a:latin typeface="Aptos"/>
              </a:rPr>
              <a:t>• NIC sends bytes; receiver returns them to application software</a:t>
            </a:r>
            <a:endParaRPr lang="en-US" sz="1700"/>
          </a:p>
          <a:p>
            <a:pPr algn="l"/>
            <a:r>
              <a:rPr lang="en-US" sz="1700" b="0" i="0">
                <a:solidFill>
                  <a:srgbClr val="18212F"/>
                </a:solidFill>
                <a:latin typeface="Aptos"/>
              </a:rPr>
              <a:t>• Convenient and general, but host software is on the fast path</a:t>
            </a:r>
            <a:endParaRPr lang="en-US" sz="1700"/>
          </a:p>
        </p:txBody>
      </p:sp>
      <p:sp>
        <p:nvSpPr>
          <p:cNvPr id="6" name="Text 6"/>
          <p:cNvSpPr/>
          <p:nvPr/>
        </p:nvSpPr>
        <p:spPr>
          <a:xfrm>
            <a:off x="6446520" y="1078992"/>
            <a:ext cx="192024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0" i="0">
                <a:solidFill>
                  <a:srgbClr val="18212F"/>
                </a:solidFill>
                <a:latin typeface="Aptos"/>
              </a:rPr>
              <a:t>Application</a:t>
            </a:r>
            <a:endParaRPr lang="en-US" sz="1400"/>
          </a:p>
        </p:txBody>
      </p:sp>
      <p:sp>
        <p:nvSpPr>
          <p:cNvPr id="7" name="Text 7"/>
          <p:cNvSpPr/>
          <p:nvPr/>
        </p:nvSpPr>
        <p:spPr>
          <a:xfrm>
            <a:off x="6446520" y="1920240"/>
            <a:ext cx="1920240" cy="77724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400" b="0" i="0">
                <a:solidFill>
                  <a:srgbClr val="18212F"/>
                </a:solidFill>
                <a:latin typeface="Aptos"/>
              </a:rPr>
              <a:t>Socket +</a:t>
            </a:r>
            <a:endParaRPr lang="en-US" sz="1400"/>
          </a:p>
          <a:p>
            <a:pPr algn="ctr"/>
            <a:r>
              <a:rPr lang="en-US" sz="1400" b="0" i="0">
                <a:solidFill>
                  <a:srgbClr val="18212F"/>
                </a:solidFill>
                <a:latin typeface="Aptos"/>
              </a:rPr>
              <a:t>kernel stack</a:t>
            </a:r>
            <a:endParaRPr lang="en-US" sz="1400"/>
          </a:p>
        </p:txBody>
      </p:sp>
      <p:sp>
        <p:nvSpPr>
          <p:cNvPr id="8" name="Text 8"/>
          <p:cNvSpPr/>
          <p:nvPr/>
        </p:nvSpPr>
        <p:spPr>
          <a:xfrm>
            <a:off x="6446520" y="2971800"/>
            <a:ext cx="1920240" cy="59436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400" b="0" i="0">
                <a:solidFill>
                  <a:srgbClr val="18212F"/>
                </a:solidFill>
                <a:latin typeface="Aptos"/>
              </a:rPr>
              <a:t>NIC</a:t>
            </a:r>
            <a:endParaRPr lang="en-US" sz="1400"/>
          </a:p>
        </p:txBody>
      </p:sp>
      <p:sp>
        <p:nvSpPr>
          <p:cNvPr id="9" name="Text 9"/>
          <p:cNvSpPr/>
          <p:nvPr/>
        </p:nvSpPr>
        <p:spPr>
          <a:xfrm>
            <a:off x="9144000" y="2057400"/>
            <a:ext cx="1920240" cy="141732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400" b="0" i="0">
                <a:solidFill>
                  <a:srgbClr val="18212F"/>
                </a:solidFill>
                <a:latin typeface="Aptos"/>
              </a:rPr>
              <a:t>Network</a:t>
            </a:r>
            <a:endParaRPr lang="en-US" sz="1400"/>
          </a:p>
        </p:txBody>
      </p:sp>
      <p:sp>
        <p:nvSpPr>
          <p:cNvPr id="10" name="Line 10"/>
          <p:cNvSpPr/>
          <p:nvPr/>
        </p:nvSpPr>
        <p:spPr>
          <a:xfrm>
            <a:off x="7406640" y="1673352"/>
            <a:ext cx="0" cy="246888"/>
          </a:xfrm>
          <a:prstGeom prst="line">
            <a:avLst/>
          </a:prstGeom>
          <a:ln w="17780">
            <a:solidFill>
              <a:srgbClr val="D9E1EF"/>
            </a:solidFill>
            <a:headEnd type="triangle" w="sm" len="sm"/>
          </a:ln>
        </p:spPr>
      </p:sp>
      <p:sp>
        <p:nvSpPr>
          <p:cNvPr id="11" name="Line 11"/>
          <p:cNvSpPr/>
          <p:nvPr/>
        </p:nvSpPr>
        <p:spPr>
          <a:xfrm>
            <a:off x="7406640" y="2697480"/>
            <a:ext cx="0" cy="274319"/>
          </a:xfrm>
          <a:prstGeom prst="line">
            <a:avLst/>
          </a:prstGeom>
          <a:ln w="17780">
            <a:solidFill>
              <a:srgbClr val="D9E1EF"/>
            </a:solidFill>
            <a:headEnd type="triangle" w="sm" len="sm"/>
          </a:ln>
        </p:spPr>
      </p:sp>
      <p:sp>
        <p:nvSpPr>
          <p:cNvPr id="12" name="Line 12"/>
          <p:cNvSpPr/>
          <p:nvPr/>
        </p:nvSpPr>
        <p:spPr>
          <a:xfrm>
            <a:off x="8366760" y="3246120"/>
            <a:ext cx="777239" cy="-502919"/>
          </a:xfrm>
          <a:prstGeom prst="line">
            <a:avLst/>
          </a:prstGeom>
          <a:ln w="17780">
            <a:solidFill>
              <a:srgbClr val="D9E1EF"/>
            </a:solidFill>
            <a:headEnd type="triangle" w="sm" len="sm"/>
          </a:ln>
        </p:spPr>
      </p:sp>
      <p:sp>
        <p:nvSpPr>
          <p:cNvPr id="13" name="Text 13"/>
          <p:cNvSpPr/>
          <p:nvPr/>
        </p:nvSpPr>
        <p:spPr>
          <a:xfrm>
            <a:off x="6400800" y="4526280"/>
            <a:ext cx="4846320" cy="640080"/>
          </a:xfrm>
          <a:prstGeom prst="rect">
            <a:avLst/>
          </a:prstGeom>
          <a:noFill/>
          <a:ln>
            <a:noFill/>
          </a:ln>
        </p:spPr>
        <p:txBody>
          <a:bodyPr wrap="square" lIns="73152" rIns="73152" tIns="73152" bIns="73152">
            <a:lstStyle/>
          </a:bodyPr>
          <a:p>
            <a:pPr algn="ctr"/>
            <a:r>
              <a:rPr lang="en-US" sz="1500" b="0" i="0">
                <a:solidFill>
                  <a:srgbClr val="5B677A"/>
                </a:solidFill>
                <a:latin typeface="Aptos"/>
              </a:rPr>
              <a:t>More CPU / kernel involvement</a:t>
            </a:r>
            <a:endParaRPr lang="en-US" sz="1500"/>
          </a:p>
          <a:p>
            <a:pPr algn="ctr"/>
            <a:r>
              <a:rPr lang="en-US" sz="1500" b="0" i="0">
                <a:solidFill>
                  <a:srgbClr val="5B677A"/>
                </a:solidFill>
                <a:latin typeface="Aptos"/>
              </a:rPr>
              <a:t>than the RDMA fast path</a:t>
            </a:r>
            <a:endParaRPr lang="en-US" sz="1500"/>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RDMA: move networking work into the RNIC</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§1; networking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3</a:t>
            </a:r>
            <a:endParaRPr lang="en-US" sz="900"/>
          </a:p>
        </p:txBody>
      </p:sp>
      <p:sp>
        <p:nvSpPr>
          <p:cNvPr id="5" name="Text 5"/>
          <p:cNvSpPr/>
          <p:nvPr/>
        </p:nvSpPr>
        <p:spPr>
          <a:xfrm>
            <a:off x="731520" y="914400"/>
            <a:ext cx="10789920" cy="365760"/>
          </a:xfrm>
          <a:prstGeom prst="rect">
            <a:avLst/>
          </a:prstGeom>
          <a:noFill/>
          <a:ln>
            <a:noFill/>
          </a:ln>
        </p:spPr>
        <p:txBody>
          <a:bodyPr wrap="square" lIns="73152" rIns="73152" tIns="73152" bIns="73152">
            <a:lstStyle/>
          </a:bodyPr>
          <a:p>
            <a:pPr algn="ctr" marL="0"/>
            <a:r>
              <a:rPr lang="en-US" sz="1900" b="1" i="0">
                <a:solidFill>
                  <a:srgbClr val="14213D"/>
                </a:solidFill>
                <a:latin typeface="Aptos"/>
              </a:rPr>
              <a:t>The CPU posts an operation; the RNIC carries the data path.</a:t>
            </a:r>
            <a:endParaRPr lang="en-US" sz="1900"/>
          </a:p>
        </p:txBody>
      </p:sp>
      <p:sp>
        <p:nvSpPr>
          <p:cNvPr id="6" name="Text 6"/>
          <p:cNvSpPr/>
          <p:nvPr/>
        </p:nvSpPr>
        <p:spPr>
          <a:xfrm>
            <a:off x="594360" y="2057400"/>
            <a:ext cx="1417320" cy="9144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Host A</a:t>
            </a:r>
            <a:endParaRPr lang="en-US" sz="1500"/>
          </a:p>
          <a:p>
            <a:pPr algn="ctr"/>
            <a:r>
              <a:rPr lang="en-US" sz="1500" b="1" i="0">
                <a:solidFill>
                  <a:srgbClr val="18212F"/>
                </a:solidFill>
                <a:latin typeface="Aptos"/>
              </a:rPr>
              <a:t>memory</a:t>
            </a:r>
            <a:endParaRPr lang="en-US" sz="1500"/>
          </a:p>
        </p:txBody>
      </p:sp>
      <p:sp>
        <p:nvSpPr>
          <p:cNvPr id="7" name="Text 7"/>
          <p:cNvSpPr/>
          <p:nvPr/>
        </p:nvSpPr>
        <p:spPr>
          <a:xfrm>
            <a:off x="2377440" y="2057400"/>
            <a:ext cx="1417320" cy="91440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500" b="1" i="0">
                <a:solidFill>
                  <a:srgbClr val="18212F"/>
                </a:solidFill>
                <a:latin typeface="Aptos"/>
              </a:rPr>
              <a:t>RNIC A</a:t>
            </a:r>
            <a:endParaRPr lang="en-US" sz="1500"/>
          </a:p>
        </p:txBody>
      </p:sp>
      <p:sp>
        <p:nvSpPr>
          <p:cNvPr id="8" name="Text 8"/>
          <p:cNvSpPr/>
          <p:nvPr/>
        </p:nvSpPr>
        <p:spPr>
          <a:xfrm>
            <a:off x="4800600" y="2057400"/>
            <a:ext cx="1920240" cy="91440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500" b="1" i="0">
                <a:solidFill>
                  <a:srgbClr val="18212F"/>
                </a:solidFill>
                <a:latin typeface="Aptos"/>
              </a:rPr>
              <a:t>Ethernet</a:t>
            </a:r>
            <a:endParaRPr lang="en-US" sz="1500"/>
          </a:p>
          <a:p>
            <a:pPr algn="ctr"/>
            <a:r>
              <a:rPr lang="en-US" sz="1500" b="1" i="0">
                <a:solidFill>
                  <a:srgbClr val="18212F"/>
                </a:solidFill>
                <a:latin typeface="Aptos"/>
              </a:rPr>
              <a:t>switches</a:t>
            </a:r>
            <a:endParaRPr lang="en-US" sz="1500"/>
          </a:p>
        </p:txBody>
      </p:sp>
      <p:sp>
        <p:nvSpPr>
          <p:cNvPr id="9" name="Text 9"/>
          <p:cNvSpPr/>
          <p:nvPr/>
        </p:nvSpPr>
        <p:spPr>
          <a:xfrm>
            <a:off x="7726679" y="2057400"/>
            <a:ext cx="1417320" cy="91440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500" b="1" i="0">
                <a:solidFill>
                  <a:srgbClr val="18212F"/>
                </a:solidFill>
                <a:latin typeface="Aptos"/>
              </a:rPr>
              <a:t>RNIC B</a:t>
            </a:r>
            <a:endParaRPr lang="en-US" sz="1500"/>
          </a:p>
        </p:txBody>
      </p:sp>
      <p:sp>
        <p:nvSpPr>
          <p:cNvPr id="10" name="Text 10"/>
          <p:cNvSpPr/>
          <p:nvPr/>
        </p:nvSpPr>
        <p:spPr>
          <a:xfrm>
            <a:off x="9692640" y="2057400"/>
            <a:ext cx="1417320" cy="9144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Host B</a:t>
            </a:r>
            <a:endParaRPr lang="en-US" sz="1500"/>
          </a:p>
          <a:p>
            <a:pPr algn="ctr"/>
            <a:r>
              <a:rPr lang="en-US" sz="1500" b="1" i="0">
                <a:solidFill>
                  <a:srgbClr val="18212F"/>
                </a:solidFill>
                <a:latin typeface="Aptos"/>
              </a:rPr>
              <a:t>memory</a:t>
            </a:r>
            <a:endParaRPr lang="en-US" sz="1500"/>
          </a:p>
        </p:txBody>
      </p:sp>
      <p:sp>
        <p:nvSpPr>
          <p:cNvPr id="11" name="Line 11"/>
          <p:cNvSpPr/>
          <p:nvPr/>
        </p:nvSpPr>
        <p:spPr>
          <a:xfrm>
            <a:off x="2011680" y="2514600"/>
            <a:ext cx="365759" cy="0"/>
          </a:xfrm>
          <a:prstGeom prst="line">
            <a:avLst/>
          </a:prstGeom>
          <a:ln w="27940">
            <a:solidFill>
              <a:srgbClr val="2F6FED"/>
            </a:solidFill>
            <a:headEnd type="triangle" w="sm" len="sm"/>
          </a:ln>
        </p:spPr>
      </p:sp>
      <p:sp>
        <p:nvSpPr>
          <p:cNvPr id="12" name="Line 12"/>
          <p:cNvSpPr/>
          <p:nvPr/>
        </p:nvSpPr>
        <p:spPr>
          <a:xfrm>
            <a:off x="3794760" y="2514600"/>
            <a:ext cx="1005839" cy="0"/>
          </a:xfrm>
          <a:prstGeom prst="line">
            <a:avLst/>
          </a:prstGeom>
          <a:ln w="27940">
            <a:solidFill>
              <a:srgbClr val="2F6FED"/>
            </a:solidFill>
            <a:headEnd type="triangle" w="sm" len="sm"/>
          </a:ln>
        </p:spPr>
      </p:sp>
      <p:sp>
        <p:nvSpPr>
          <p:cNvPr id="13" name="Line 13"/>
          <p:cNvSpPr/>
          <p:nvPr/>
        </p:nvSpPr>
        <p:spPr>
          <a:xfrm>
            <a:off x="6720840" y="2514600"/>
            <a:ext cx="1005839" cy="0"/>
          </a:xfrm>
          <a:prstGeom prst="line">
            <a:avLst/>
          </a:prstGeom>
          <a:ln w="27940">
            <a:solidFill>
              <a:srgbClr val="2F6FED"/>
            </a:solidFill>
            <a:headEnd type="triangle" w="sm" len="sm"/>
          </a:ln>
        </p:spPr>
      </p:sp>
      <p:sp>
        <p:nvSpPr>
          <p:cNvPr id="14" name="Line 14"/>
          <p:cNvSpPr/>
          <p:nvPr/>
        </p:nvSpPr>
        <p:spPr>
          <a:xfrm>
            <a:off x="9144000" y="2514600"/>
            <a:ext cx="548639" cy="0"/>
          </a:xfrm>
          <a:prstGeom prst="line">
            <a:avLst/>
          </a:prstGeom>
          <a:ln w="27940">
            <a:solidFill>
              <a:srgbClr val="2F6FED"/>
            </a:solidFill>
            <a:headEnd type="triangle" w="sm" len="sm"/>
          </a:ln>
        </p:spPr>
      </p:sp>
      <p:sp>
        <p:nvSpPr>
          <p:cNvPr id="15" name="Text 15"/>
          <p:cNvSpPr/>
          <p:nvPr/>
        </p:nvSpPr>
        <p:spPr>
          <a:xfrm>
            <a:off x="1783080" y="3090672"/>
            <a:ext cx="731520" cy="228600"/>
          </a:xfrm>
          <a:prstGeom prst="rect">
            <a:avLst/>
          </a:prstGeom>
          <a:noFill/>
          <a:ln>
            <a:noFill/>
          </a:ln>
        </p:spPr>
        <p:txBody>
          <a:bodyPr wrap="square" lIns="73152" rIns="73152" tIns="73152" bIns="73152">
            <a:lstStyle/>
          </a:bodyPr>
          <a:p>
            <a:pPr algn="ctr"/>
            <a:r>
              <a:rPr lang="en-US" sz="1100" b="0" i="0">
                <a:solidFill>
                  <a:srgbClr val="5B677A"/>
                </a:solidFill>
                <a:latin typeface="Aptos"/>
              </a:rPr>
              <a:t>PCIe</a:t>
            </a:r>
            <a:endParaRPr lang="en-US" sz="1100"/>
          </a:p>
        </p:txBody>
      </p:sp>
      <p:sp>
        <p:nvSpPr>
          <p:cNvPr id="16" name="Text 16"/>
          <p:cNvSpPr/>
          <p:nvPr/>
        </p:nvSpPr>
        <p:spPr>
          <a:xfrm>
            <a:off x="9144000" y="3090672"/>
            <a:ext cx="731520" cy="228600"/>
          </a:xfrm>
          <a:prstGeom prst="rect">
            <a:avLst/>
          </a:prstGeom>
          <a:noFill/>
          <a:ln>
            <a:noFill/>
          </a:ln>
        </p:spPr>
        <p:txBody>
          <a:bodyPr wrap="square" lIns="73152" rIns="73152" tIns="73152" bIns="73152">
            <a:lstStyle/>
          </a:bodyPr>
          <a:p>
            <a:pPr algn="ctr"/>
            <a:r>
              <a:rPr lang="en-US" sz="1100" b="0" i="0">
                <a:solidFill>
                  <a:srgbClr val="5B677A"/>
                </a:solidFill>
                <a:latin typeface="Aptos"/>
              </a:rPr>
              <a:t>PCIe</a:t>
            </a:r>
            <a:endParaRPr lang="en-US" sz="1100"/>
          </a:p>
        </p:txBody>
      </p:sp>
      <p:sp>
        <p:nvSpPr>
          <p:cNvPr id="17" name="Text 17"/>
          <p:cNvSpPr/>
          <p:nvPr/>
        </p:nvSpPr>
        <p:spPr>
          <a:xfrm>
            <a:off x="2331720" y="3977639"/>
            <a:ext cx="7498079" cy="1005840"/>
          </a:xfrm>
          <a:prstGeom prst="rect">
            <a:avLst/>
          </a:prstGeom>
          <a:noFill/>
          <a:ln>
            <a:noFill/>
          </a:ln>
        </p:spPr>
        <p:txBody>
          <a:bodyPr wrap="square" lIns="73152" rIns="73152" tIns="73152" bIns="73152">
            <a:lstStyle/>
          </a:bodyPr>
          <a:p>
            <a:pPr algn="ctr"/>
            <a:r>
              <a:rPr lang="en-US" sz="1700" b="0" i="0">
                <a:solidFill>
                  <a:srgbClr val="18212F"/>
                </a:solidFill>
                <a:latin typeface="Aptos"/>
              </a:rPr>
              <a:t>registered memory</a:t>
            </a:r>
            <a:endParaRPr lang="en-US" sz="1700"/>
          </a:p>
          <a:p>
            <a:pPr algn="ctr"/>
            <a:r>
              <a:rPr lang="en-US" sz="1700" b="0" i="0">
                <a:solidFill>
                  <a:srgbClr val="18212F"/>
                </a:solidFill>
                <a:latin typeface="Aptos"/>
              </a:rPr>
              <a:t>DMA + packet processing</a:t>
            </a:r>
            <a:endParaRPr lang="en-US" sz="1700"/>
          </a:p>
          <a:p>
            <a:pPr algn="ctr"/>
            <a:r>
              <a:rPr lang="en-US" sz="1700" b="0" i="0">
                <a:solidFill>
                  <a:srgbClr val="18212F"/>
                </a:solidFill>
                <a:latin typeface="Aptos"/>
              </a:rPr>
              <a:t>ack/retransmission state</a:t>
            </a:r>
            <a:endParaRPr lang="en-US" sz="1700"/>
          </a:p>
        </p:txBody>
      </p:sp>
      <p:sp>
        <p:nvSpPr>
          <p:cNvPr id="18" name="Text 18"/>
          <p:cNvSpPr/>
          <p:nvPr/>
        </p:nvSpPr>
        <p:spPr>
          <a:xfrm>
            <a:off x="3291840" y="5486400"/>
            <a:ext cx="5669280" cy="320040"/>
          </a:xfrm>
          <a:prstGeom prst="rect">
            <a:avLst/>
          </a:prstGeom>
          <a:noFill/>
          <a:ln>
            <a:noFill/>
          </a:ln>
        </p:spPr>
        <p:txBody>
          <a:bodyPr wrap="square" lIns="73152" rIns="73152" tIns="73152" bIns="73152">
            <a:lstStyle/>
          </a:bodyPr>
          <a:p>
            <a:pPr algn="ctr"/>
            <a:r>
              <a:rPr lang="en-US" sz="1500" b="1" i="0">
                <a:solidFill>
                  <a:srgbClr val="176B4C"/>
                </a:solidFill>
                <a:latin typeface="Aptos"/>
              </a:rPr>
              <a:t>CPU: setup, work requests, completions</a:t>
            </a:r>
            <a:endParaRPr lang="en-US" sz="1500"/>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The vocabulary needed for the paper</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0:45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Networking reference; DCP §§4.3–4.5</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4</a:t>
            </a:r>
            <a:endParaRPr lang="en-US" sz="900"/>
          </a:p>
        </p:txBody>
      </p:sp>
      <p:sp>
        <p:nvSpPr>
          <p:cNvPr id="5" name="Text 5"/>
          <p:cNvSpPr/>
          <p:nvPr/>
        </p:nvSpPr>
        <p:spPr>
          <a:xfrm>
            <a:off x="640080" y="1097280"/>
            <a:ext cx="3474720" cy="132588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6" name="Text 6"/>
          <p:cNvSpPr/>
          <p:nvPr/>
        </p:nvSpPr>
        <p:spPr>
          <a:xfrm>
            <a:off x="640080" y="1097280"/>
            <a:ext cx="73152" cy="1325880"/>
          </a:xfrm>
          <a:prstGeom prst="rect">
            <a:avLst/>
          </a:prstGeom>
          <a:solidFill>
            <a:srgbClr val="24B6C7"/>
          </a:solidFill>
          <a:ln w="11430">
            <a:solidFill>
              <a:srgbClr val="24B6C7"/>
            </a:solidFill>
          </a:ln>
        </p:spPr>
        <p:txBody>
          <a:bodyPr wrap="square" lIns="0" rIns="0" tIns="0" bIns="0">
            <a:lstStyle/>
          </a:bodyPr>
          <a:p>
            <a:pPr algn="l"/>
            <a:r>
              <a:rPr lang="en-US" sz="100" b="0" i="0">
                <a:solidFill>
                  <a:srgbClr val="18212F"/>
                </a:solidFill>
                <a:latin typeface="Aptos"/>
              </a:rPr>
              <a:t/>
            </a:r>
            <a:endParaRPr lang="en-US" sz="100"/>
          </a:p>
        </p:txBody>
      </p:sp>
      <p:sp>
        <p:nvSpPr>
          <p:cNvPr id="7" name="Text 7"/>
          <p:cNvSpPr/>
          <p:nvPr/>
        </p:nvSpPr>
        <p:spPr>
          <a:xfrm>
            <a:off x="822959" y="1243584"/>
            <a:ext cx="3154679"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RNIC</a:t>
            </a:r>
            <a:endParaRPr lang="en-US" sz="1500"/>
          </a:p>
        </p:txBody>
      </p:sp>
      <p:sp>
        <p:nvSpPr>
          <p:cNvPr id="8" name="Text 8"/>
          <p:cNvSpPr/>
          <p:nvPr/>
        </p:nvSpPr>
        <p:spPr>
          <a:xfrm>
            <a:off x="822959" y="1645919"/>
            <a:ext cx="3154679" cy="667512"/>
          </a:xfrm>
          <a:prstGeom prst="rect">
            <a:avLst/>
          </a:prstGeom>
          <a:noFill/>
          <a:ln>
            <a:noFill/>
          </a:ln>
        </p:spPr>
        <p:txBody>
          <a:bodyPr wrap="square" lIns="73152" rIns="73152" tIns="73152" bIns="73152">
            <a:lstStyle/>
          </a:bodyPr>
          <a:p>
            <a:pPr algn="l"/>
            <a:r>
              <a:rPr lang="en-US" sz="1500" b="0" i="0">
                <a:solidFill>
                  <a:srgbClr val="18212F"/>
                </a:solidFill>
                <a:latin typeface="Aptos"/>
              </a:rPr>
              <a:t>RDMA-capable network interface/controller; hardware fast path</a:t>
            </a:r>
            <a:endParaRPr lang="en-US" sz="1500"/>
          </a:p>
        </p:txBody>
      </p:sp>
      <p:sp>
        <p:nvSpPr>
          <p:cNvPr id="9" name="Text 9"/>
          <p:cNvSpPr/>
          <p:nvPr/>
        </p:nvSpPr>
        <p:spPr>
          <a:xfrm>
            <a:off x="4389120" y="1097280"/>
            <a:ext cx="3474720" cy="132588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0" name="Text 10"/>
          <p:cNvSpPr/>
          <p:nvPr/>
        </p:nvSpPr>
        <p:spPr>
          <a:xfrm>
            <a:off x="4389120" y="1097280"/>
            <a:ext cx="73152" cy="1325880"/>
          </a:xfrm>
          <a:prstGeom prst="rect">
            <a:avLst/>
          </a:prstGeom>
          <a:solidFill>
            <a:srgbClr val="2F6FED"/>
          </a:solidFill>
          <a:ln w="11430">
            <a:solidFill>
              <a:srgbClr val="2F6FED"/>
            </a:solidFill>
          </a:ln>
        </p:spPr>
        <p:txBody>
          <a:bodyPr wrap="square" lIns="0" rIns="0" tIns="0" bIns="0">
            <a:lstStyle/>
          </a:bodyPr>
          <a:p>
            <a:pPr algn="l"/>
            <a:r>
              <a:rPr lang="en-US" sz="100" b="0" i="0">
                <a:solidFill>
                  <a:srgbClr val="18212F"/>
                </a:solidFill>
                <a:latin typeface="Aptos"/>
              </a:rPr>
              <a:t/>
            </a:r>
            <a:endParaRPr lang="en-US" sz="100"/>
          </a:p>
        </p:txBody>
      </p:sp>
      <p:sp>
        <p:nvSpPr>
          <p:cNvPr id="11" name="Text 11"/>
          <p:cNvSpPr/>
          <p:nvPr/>
        </p:nvSpPr>
        <p:spPr>
          <a:xfrm>
            <a:off x="4572000" y="1243584"/>
            <a:ext cx="3154679"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QP / WQE</a:t>
            </a:r>
            <a:endParaRPr lang="en-US" sz="1500"/>
          </a:p>
        </p:txBody>
      </p:sp>
      <p:sp>
        <p:nvSpPr>
          <p:cNvPr id="12" name="Text 12"/>
          <p:cNvSpPr/>
          <p:nvPr/>
        </p:nvSpPr>
        <p:spPr>
          <a:xfrm>
            <a:off x="4572000" y="1645919"/>
            <a:ext cx="3154679" cy="667512"/>
          </a:xfrm>
          <a:prstGeom prst="rect">
            <a:avLst/>
          </a:prstGeom>
          <a:noFill/>
          <a:ln>
            <a:noFill/>
          </a:ln>
        </p:spPr>
        <p:txBody>
          <a:bodyPr wrap="square" lIns="73152" rIns="73152" tIns="73152" bIns="73152">
            <a:lstStyle/>
          </a:bodyPr>
          <a:p>
            <a:pPr algn="l"/>
            <a:r>
              <a:rPr lang="en-US" sz="1400" b="0" i="0">
                <a:solidFill>
                  <a:srgbClr val="18212F"/>
                </a:solidFill>
                <a:latin typeface="Aptos"/>
              </a:rPr>
              <a:t>Queue Pair has send and receive queues. Completion queues are separate and may be shared. A WQE describes an operation.</a:t>
            </a:r>
            <a:endParaRPr lang="en-US" sz="1400"/>
          </a:p>
        </p:txBody>
      </p:sp>
      <p:sp>
        <p:nvSpPr>
          <p:cNvPr id="13" name="Text 13"/>
          <p:cNvSpPr/>
          <p:nvPr/>
        </p:nvSpPr>
        <p:spPr>
          <a:xfrm>
            <a:off x="8138160" y="1097280"/>
            <a:ext cx="3383280" cy="132588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4" name="Text 14"/>
          <p:cNvSpPr/>
          <p:nvPr/>
        </p:nvSpPr>
        <p:spPr>
          <a:xfrm>
            <a:off x="8138160" y="1097280"/>
            <a:ext cx="73152" cy="1325880"/>
          </a:xfrm>
          <a:prstGeom prst="rect">
            <a:avLst/>
          </a:prstGeom>
          <a:solidFill>
            <a:srgbClr val="F59E0B"/>
          </a:solidFill>
          <a:ln w="11430">
            <a:solidFill>
              <a:srgbClr val="F59E0B"/>
            </a:solidFill>
          </a:ln>
        </p:spPr>
        <p:txBody>
          <a:bodyPr wrap="square" lIns="0" rIns="0" tIns="0" bIns="0">
            <a:lstStyle/>
          </a:bodyPr>
          <a:p>
            <a:pPr algn="l"/>
            <a:r>
              <a:rPr lang="en-US" sz="100" b="0" i="0">
                <a:solidFill>
                  <a:srgbClr val="18212F"/>
                </a:solidFill>
                <a:latin typeface="Aptos"/>
              </a:rPr>
              <a:t/>
            </a:r>
            <a:endParaRPr lang="en-US" sz="100"/>
          </a:p>
        </p:txBody>
      </p:sp>
      <p:sp>
        <p:nvSpPr>
          <p:cNvPr id="15" name="Text 15"/>
          <p:cNvSpPr/>
          <p:nvPr/>
        </p:nvSpPr>
        <p:spPr>
          <a:xfrm>
            <a:off x="8321040" y="1243584"/>
            <a:ext cx="30632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PSN / MSN</a:t>
            </a:r>
            <a:endParaRPr lang="en-US" sz="1500"/>
          </a:p>
        </p:txBody>
      </p:sp>
      <p:sp>
        <p:nvSpPr>
          <p:cNvPr id="16" name="Text 16"/>
          <p:cNvSpPr/>
          <p:nvPr/>
        </p:nvSpPr>
        <p:spPr>
          <a:xfrm>
            <a:off x="8321040" y="1645919"/>
            <a:ext cx="3063240" cy="667512"/>
          </a:xfrm>
          <a:prstGeom prst="rect">
            <a:avLst/>
          </a:prstGeom>
          <a:noFill/>
          <a:ln>
            <a:noFill/>
          </a:ln>
        </p:spPr>
        <p:txBody>
          <a:bodyPr wrap="square" lIns="73152" rIns="73152" tIns="73152" bIns="73152">
            <a:lstStyle/>
          </a:bodyPr>
          <a:p>
            <a:pPr algn="l"/>
            <a:r>
              <a:rPr lang="en-US" sz="1500" b="0" i="0">
                <a:solidFill>
                  <a:srgbClr val="18212F"/>
                </a:solidFill>
                <a:latin typeface="Aptos"/>
              </a:rPr>
              <a:t>Packet Sequence Number identifies packets; Message Sequence Number identifies messages.</a:t>
            </a:r>
            <a:endParaRPr lang="en-US" sz="1500"/>
          </a:p>
        </p:txBody>
      </p:sp>
      <p:sp>
        <p:nvSpPr>
          <p:cNvPr id="17" name="Text 17"/>
          <p:cNvSpPr/>
          <p:nvPr/>
        </p:nvSpPr>
        <p:spPr>
          <a:xfrm>
            <a:off x="868680" y="3703320"/>
            <a:ext cx="1645920" cy="274320"/>
          </a:xfrm>
          <a:prstGeom prst="rect">
            <a:avLst/>
          </a:prstGeom>
          <a:noFill/>
          <a:ln>
            <a:noFill/>
          </a:ln>
        </p:spPr>
        <p:txBody>
          <a:bodyPr wrap="square" lIns="73152" rIns="73152" tIns="73152" bIns="73152">
            <a:lstStyle/>
          </a:bodyPr>
          <a:p>
            <a:pPr algn="l"/>
            <a:r>
              <a:rPr lang="en-US" sz="1600" b="1" i="0">
                <a:solidFill>
                  <a:srgbClr val="14213D"/>
                </a:solidFill>
                <a:latin typeface="Aptos"/>
              </a:rPr>
              <a:t>Message MSN 7</a:t>
            </a:r>
            <a:endParaRPr lang="en-US" sz="1600"/>
          </a:p>
        </p:txBody>
      </p:sp>
      <p:sp>
        <p:nvSpPr>
          <p:cNvPr id="18" name="Text 18"/>
          <p:cNvSpPr/>
          <p:nvPr/>
        </p:nvSpPr>
        <p:spPr>
          <a:xfrm>
            <a:off x="2743200" y="3429000"/>
            <a:ext cx="123444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PSN 10</a:t>
            </a:r>
            <a:endParaRPr lang="en-US" sz="1500"/>
          </a:p>
        </p:txBody>
      </p:sp>
      <p:sp>
        <p:nvSpPr>
          <p:cNvPr id="19" name="Text 19"/>
          <p:cNvSpPr/>
          <p:nvPr/>
        </p:nvSpPr>
        <p:spPr>
          <a:xfrm>
            <a:off x="4617720" y="3429000"/>
            <a:ext cx="123444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PSN 11</a:t>
            </a:r>
            <a:endParaRPr lang="en-US" sz="1500"/>
          </a:p>
        </p:txBody>
      </p:sp>
      <p:sp>
        <p:nvSpPr>
          <p:cNvPr id="20" name="Text 20"/>
          <p:cNvSpPr/>
          <p:nvPr/>
        </p:nvSpPr>
        <p:spPr>
          <a:xfrm>
            <a:off x="6492240" y="3429000"/>
            <a:ext cx="123444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PSN 12</a:t>
            </a:r>
            <a:endParaRPr lang="en-US" sz="1500"/>
          </a:p>
        </p:txBody>
      </p:sp>
      <p:sp>
        <p:nvSpPr>
          <p:cNvPr id="21" name="Text 21"/>
          <p:cNvSpPr/>
          <p:nvPr/>
        </p:nvSpPr>
        <p:spPr>
          <a:xfrm>
            <a:off x="8366759" y="3429000"/>
            <a:ext cx="123444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PSN 13</a:t>
            </a:r>
            <a:endParaRPr lang="en-US" sz="1500"/>
          </a:p>
        </p:txBody>
      </p:sp>
      <p:sp>
        <p:nvSpPr>
          <p:cNvPr id="22" name="Text 22"/>
          <p:cNvSpPr/>
          <p:nvPr/>
        </p:nvSpPr>
        <p:spPr>
          <a:xfrm>
            <a:off x="2743200" y="4617720"/>
            <a:ext cx="6583680" cy="320040"/>
          </a:xfrm>
          <a:prstGeom prst="rect">
            <a:avLst/>
          </a:prstGeom>
          <a:noFill/>
          <a:ln>
            <a:noFill/>
          </a:ln>
        </p:spPr>
        <p:txBody>
          <a:bodyPr wrap="square" lIns="73152" rIns="73152" tIns="73152" bIns="73152">
            <a:lstStyle/>
          </a:bodyPr>
          <a:p>
            <a:pPr algn="ctr"/>
            <a:r>
              <a:rPr lang="en-US" sz="1700" b="0" i="0">
                <a:solidFill>
                  <a:srgbClr val="5B677A"/>
                </a:solidFill>
                <a:latin typeface="Aptos"/>
              </a:rPr>
              <a:t>One RDMA message → multiple network packets</a:t>
            </a:r>
            <a:endParaRPr lang="en-US" sz="1700"/>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Why RDMA fabrics have traditionally been lossless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§2.1</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5</a:t>
            </a:r>
            <a:endParaRPr lang="en-US" sz="900"/>
          </a:p>
        </p:txBody>
      </p:sp>
      <p:sp>
        <p:nvSpPr>
          <p:cNvPr id="5" name="Text 5"/>
          <p:cNvSpPr/>
          <p:nvPr/>
        </p:nvSpPr>
        <p:spPr>
          <a:xfrm>
            <a:off x="685800" y="1051560"/>
            <a:ext cx="3657600" cy="18288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6" name="Text 6"/>
          <p:cNvSpPr/>
          <p:nvPr/>
        </p:nvSpPr>
        <p:spPr>
          <a:xfrm>
            <a:off x="685800" y="1051560"/>
            <a:ext cx="73152" cy="1828800"/>
          </a:xfrm>
          <a:prstGeom prst="rect">
            <a:avLst/>
          </a:prstGeom>
          <a:solidFill>
            <a:srgbClr val="D95555"/>
          </a:solidFill>
          <a:ln w="11430">
            <a:solidFill>
              <a:srgbClr val="D95555"/>
            </a:solidFill>
          </a:ln>
        </p:spPr>
        <p:txBody>
          <a:bodyPr wrap="square" lIns="0" rIns="0" tIns="0" bIns="0">
            <a:lstStyle/>
          </a:bodyPr>
          <a:p>
            <a:pPr algn="l"/>
            <a:r>
              <a:rPr lang="en-US" sz="100" b="0" i="0">
                <a:solidFill>
                  <a:srgbClr val="18212F"/>
                </a:solidFill>
                <a:latin typeface="Aptos"/>
              </a:rPr>
              <a:t/>
            </a:r>
            <a:endParaRPr lang="en-US" sz="100"/>
          </a:p>
        </p:txBody>
      </p:sp>
      <p:sp>
        <p:nvSpPr>
          <p:cNvPr id="7" name="Text 7"/>
          <p:cNvSpPr/>
          <p:nvPr/>
        </p:nvSpPr>
        <p:spPr>
          <a:xfrm>
            <a:off x="868680" y="1197863"/>
            <a:ext cx="333756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Go-Back-N</a:t>
            </a:r>
            <a:endParaRPr lang="en-US" sz="1500"/>
          </a:p>
        </p:txBody>
      </p:sp>
      <p:sp>
        <p:nvSpPr>
          <p:cNvPr id="8" name="Text 8"/>
          <p:cNvSpPr/>
          <p:nvPr/>
        </p:nvSpPr>
        <p:spPr>
          <a:xfrm>
            <a:off x="868680" y="1600200"/>
            <a:ext cx="3337560" cy="1170432"/>
          </a:xfrm>
          <a:prstGeom prst="rect">
            <a:avLst/>
          </a:prstGeom>
          <a:noFill/>
          <a:ln>
            <a:noFill/>
          </a:ln>
        </p:spPr>
        <p:txBody>
          <a:bodyPr wrap="square" lIns="73152" rIns="73152" tIns="73152" bIns="73152">
            <a:lstStyle/>
          </a:bodyPr>
          <a:p>
            <a:pPr algn="l"/>
            <a:r>
              <a:rPr lang="en-US" sz="1700" b="0" i="0">
                <a:solidFill>
                  <a:srgbClr val="18212F"/>
                </a:solidFill>
                <a:latin typeface="Aptos"/>
              </a:rPr>
              <a:t>Loss of packet 3</a:t>
            </a:r>
            <a:endParaRPr lang="en-US" sz="1700"/>
          </a:p>
          <a:p>
            <a:pPr algn="l"/>
            <a:r>
              <a:rPr lang="en-US" sz="1700" b="0" i="0">
                <a:solidFill>
                  <a:srgbClr val="18212F"/>
                </a:solidFill>
                <a:latin typeface="Aptos"/>
              </a:rPr>
              <a:t>→ resend 3, 4, 5</a:t>
            </a:r>
            <a:endParaRPr lang="en-US" sz="1700"/>
          </a:p>
          <a:p>
            <a:pPr algn="l"/>
            <a:r>
              <a:rPr lang="en-US" sz="1700" b="0" i="0">
                <a:solidFill>
                  <a:srgbClr val="18212F"/>
                </a:solidFill>
                <a:latin typeface="Aptos"/>
              </a:rPr>
              <a:t>Simple, but repeated work</a:t>
            </a:r>
            <a:endParaRPr lang="en-US" sz="1700"/>
          </a:p>
        </p:txBody>
      </p:sp>
      <p:sp>
        <p:nvSpPr>
          <p:cNvPr id="9" name="Text 9"/>
          <p:cNvSpPr/>
          <p:nvPr/>
        </p:nvSpPr>
        <p:spPr>
          <a:xfrm>
            <a:off x="7818120" y="1051560"/>
            <a:ext cx="3657600" cy="18288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0" name="Text 10"/>
          <p:cNvSpPr/>
          <p:nvPr/>
        </p:nvSpPr>
        <p:spPr>
          <a:xfrm>
            <a:off x="7818120" y="1051560"/>
            <a:ext cx="73152" cy="1828800"/>
          </a:xfrm>
          <a:prstGeom prst="rect">
            <a:avLst/>
          </a:prstGeom>
          <a:solidFill>
            <a:srgbClr val="2E9D70"/>
          </a:solidFill>
          <a:ln w="11430">
            <a:solidFill>
              <a:srgbClr val="2E9D70"/>
            </a:solidFill>
          </a:ln>
        </p:spPr>
        <p:txBody>
          <a:bodyPr wrap="square" lIns="0" rIns="0" tIns="0" bIns="0">
            <a:lstStyle/>
          </a:bodyPr>
          <a:p>
            <a:pPr algn="l"/>
            <a:r>
              <a:rPr lang="en-US" sz="100" b="0" i="0">
                <a:solidFill>
                  <a:srgbClr val="18212F"/>
                </a:solidFill>
                <a:latin typeface="Aptos"/>
              </a:rPr>
              <a:t/>
            </a:r>
            <a:endParaRPr lang="en-US" sz="100"/>
          </a:p>
        </p:txBody>
      </p:sp>
      <p:sp>
        <p:nvSpPr>
          <p:cNvPr id="11" name="Text 11"/>
          <p:cNvSpPr/>
          <p:nvPr/>
        </p:nvSpPr>
        <p:spPr>
          <a:xfrm>
            <a:off x="8001000" y="1197863"/>
            <a:ext cx="333756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Selective Repeat</a:t>
            </a:r>
            <a:endParaRPr lang="en-US" sz="1500"/>
          </a:p>
        </p:txBody>
      </p:sp>
      <p:sp>
        <p:nvSpPr>
          <p:cNvPr id="12" name="Text 12"/>
          <p:cNvSpPr/>
          <p:nvPr/>
        </p:nvSpPr>
        <p:spPr>
          <a:xfrm>
            <a:off x="8001000" y="1600200"/>
            <a:ext cx="3337560" cy="1170432"/>
          </a:xfrm>
          <a:prstGeom prst="rect">
            <a:avLst/>
          </a:prstGeom>
          <a:noFill/>
          <a:ln>
            <a:noFill/>
          </a:ln>
        </p:spPr>
        <p:txBody>
          <a:bodyPr wrap="square" lIns="73152" rIns="73152" tIns="73152" bIns="73152">
            <a:lstStyle/>
          </a:bodyPr>
          <a:p>
            <a:pPr algn="l"/>
            <a:r>
              <a:rPr lang="en-US" sz="1700" b="0" i="0">
                <a:solidFill>
                  <a:srgbClr val="18212F"/>
                </a:solidFill>
                <a:latin typeface="Aptos"/>
              </a:rPr>
              <a:t>Loss of packet 3</a:t>
            </a:r>
            <a:endParaRPr lang="en-US" sz="1700"/>
          </a:p>
          <a:p>
            <a:pPr algn="l"/>
            <a:r>
              <a:rPr lang="en-US" sz="1700" b="0" i="0">
                <a:solidFill>
                  <a:srgbClr val="18212F"/>
                </a:solidFill>
                <a:latin typeface="Aptos"/>
              </a:rPr>
              <a:t>→ resend only 3</a:t>
            </a:r>
            <a:endParaRPr lang="en-US" sz="1700"/>
          </a:p>
          <a:p>
            <a:pPr algn="l"/>
            <a:r>
              <a:rPr lang="en-US" sz="1700" b="0" i="0">
                <a:solidFill>
                  <a:srgbClr val="18212F"/>
                </a:solidFill>
                <a:latin typeface="Aptos"/>
              </a:rPr>
              <a:t>More state, better recovery</a:t>
            </a:r>
            <a:endParaRPr lang="en-US" sz="1700"/>
          </a:p>
        </p:txBody>
      </p:sp>
      <p:sp>
        <p:nvSpPr>
          <p:cNvPr id="13" name="Text 13"/>
          <p:cNvSpPr/>
          <p:nvPr/>
        </p:nvSpPr>
        <p:spPr>
          <a:xfrm>
            <a:off x="914400" y="3520440"/>
            <a:ext cx="914400" cy="228600"/>
          </a:xfrm>
          <a:prstGeom prst="rect">
            <a:avLst/>
          </a:prstGeom>
          <a:noFill/>
          <a:ln>
            <a:noFill/>
          </a:ln>
        </p:spPr>
        <p:txBody>
          <a:bodyPr wrap="square" lIns="73152" rIns="73152" tIns="73152" bIns="73152">
            <a:lstStyle/>
          </a:bodyPr>
          <a:p>
            <a:pPr algn="l"/>
            <a:r>
              <a:rPr lang="en-US" sz="1400" b="1" i="0">
                <a:solidFill>
                  <a:srgbClr val="5B677A"/>
                </a:solidFill>
                <a:latin typeface="Aptos"/>
              </a:rPr>
              <a:t>Original</a:t>
            </a:r>
            <a:endParaRPr lang="en-US" sz="1400"/>
          </a:p>
        </p:txBody>
      </p:sp>
      <p:sp>
        <p:nvSpPr>
          <p:cNvPr id="14" name="Text 14"/>
          <p:cNvSpPr/>
          <p:nvPr/>
        </p:nvSpPr>
        <p:spPr>
          <a:xfrm>
            <a:off x="1920240" y="3337560"/>
            <a:ext cx="50292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1</a:t>
            </a:r>
            <a:endParaRPr lang="en-US" sz="1400"/>
          </a:p>
        </p:txBody>
      </p:sp>
      <p:sp>
        <p:nvSpPr>
          <p:cNvPr id="15" name="Text 15"/>
          <p:cNvSpPr/>
          <p:nvPr/>
        </p:nvSpPr>
        <p:spPr>
          <a:xfrm>
            <a:off x="2651760" y="3337560"/>
            <a:ext cx="50292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2</a:t>
            </a:r>
            <a:endParaRPr lang="en-US" sz="1400"/>
          </a:p>
        </p:txBody>
      </p:sp>
      <p:sp>
        <p:nvSpPr>
          <p:cNvPr id="16" name="Text 16"/>
          <p:cNvSpPr/>
          <p:nvPr/>
        </p:nvSpPr>
        <p:spPr>
          <a:xfrm>
            <a:off x="3383280" y="3337560"/>
            <a:ext cx="50292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3</a:t>
            </a:r>
            <a:endParaRPr lang="en-US" sz="1400"/>
          </a:p>
        </p:txBody>
      </p:sp>
      <p:sp>
        <p:nvSpPr>
          <p:cNvPr id="17" name="Text 17"/>
          <p:cNvSpPr/>
          <p:nvPr/>
        </p:nvSpPr>
        <p:spPr>
          <a:xfrm>
            <a:off x="4114800" y="3337560"/>
            <a:ext cx="50292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4</a:t>
            </a:r>
            <a:endParaRPr lang="en-US" sz="1400"/>
          </a:p>
        </p:txBody>
      </p:sp>
      <p:sp>
        <p:nvSpPr>
          <p:cNvPr id="18" name="Text 18"/>
          <p:cNvSpPr/>
          <p:nvPr/>
        </p:nvSpPr>
        <p:spPr>
          <a:xfrm>
            <a:off x="4846320" y="3337560"/>
            <a:ext cx="50292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5</a:t>
            </a:r>
            <a:endParaRPr lang="en-US" sz="1400"/>
          </a:p>
        </p:txBody>
      </p:sp>
      <p:sp>
        <p:nvSpPr>
          <p:cNvPr id="19" name="Text 19"/>
          <p:cNvSpPr/>
          <p:nvPr/>
        </p:nvSpPr>
        <p:spPr>
          <a:xfrm>
            <a:off x="3383280" y="4160520"/>
            <a:ext cx="502920" cy="274320"/>
          </a:xfrm>
          <a:prstGeom prst="rect">
            <a:avLst/>
          </a:prstGeom>
          <a:noFill/>
          <a:ln>
            <a:noFill/>
          </a:ln>
        </p:spPr>
        <p:txBody>
          <a:bodyPr wrap="square" lIns="73152" rIns="73152" tIns="73152" bIns="73152">
            <a:lstStyle/>
          </a:bodyPr>
          <a:p>
            <a:pPr algn="ctr"/>
            <a:r>
              <a:rPr lang="en-US" sz="1400" b="1" i="0">
                <a:solidFill>
                  <a:srgbClr val="D95555"/>
                </a:solidFill>
                <a:latin typeface="Aptos"/>
              </a:rPr>
              <a:t>3</a:t>
            </a:r>
            <a:endParaRPr lang="en-US" sz="1400"/>
          </a:p>
        </p:txBody>
      </p:sp>
      <p:sp>
        <p:nvSpPr>
          <p:cNvPr id="20" name="Text 20"/>
          <p:cNvSpPr/>
          <p:nvPr/>
        </p:nvSpPr>
        <p:spPr>
          <a:xfrm>
            <a:off x="3291840" y="4480560"/>
            <a:ext cx="731520" cy="228600"/>
          </a:xfrm>
          <a:prstGeom prst="rect">
            <a:avLst/>
          </a:prstGeom>
          <a:noFill/>
          <a:ln>
            <a:noFill/>
          </a:ln>
        </p:spPr>
        <p:txBody>
          <a:bodyPr wrap="square" lIns="73152" rIns="73152" tIns="73152" bIns="73152">
            <a:lstStyle/>
          </a:bodyPr>
          <a:p>
            <a:pPr algn="ctr"/>
            <a:r>
              <a:rPr lang="en-US" sz="1100" b="0" i="0">
                <a:solidFill>
                  <a:srgbClr val="D95555"/>
                </a:solidFill>
                <a:latin typeface="Aptos"/>
              </a:rPr>
              <a:t>missing</a:t>
            </a:r>
            <a:endParaRPr lang="en-US" sz="1100"/>
          </a:p>
        </p:txBody>
      </p:sp>
      <p:sp>
        <p:nvSpPr>
          <p:cNvPr id="21" name="Text 21"/>
          <p:cNvSpPr/>
          <p:nvPr/>
        </p:nvSpPr>
        <p:spPr>
          <a:xfrm>
            <a:off x="5440680" y="3657600"/>
            <a:ext cx="1097280" cy="228600"/>
          </a:xfrm>
          <a:prstGeom prst="rect">
            <a:avLst/>
          </a:prstGeom>
          <a:noFill/>
          <a:ln>
            <a:noFill/>
          </a:ln>
        </p:spPr>
        <p:txBody>
          <a:bodyPr wrap="square" lIns="73152" rIns="73152" tIns="73152" bIns="73152">
            <a:lstStyle/>
          </a:bodyPr>
          <a:p>
            <a:pPr algn="ctr"/>
            <a:r>
              <a:rPr lang="en-US" sz="1300" b="1" i="0">
                <a:solidFill>
                  <a:srgbClr val="D95555"/>
                </a:solidFill>
                <a:latin typeface="Aptos"/>
              </a:rPr>
              <a:t>GBN resend</a:t>
            </a:r>
            <a:endParaRPr lang="en-US" sz="1300"/>
          </a:p>
        </p:txBody>
      </p:sp>
      <p:sp>
        <p:nvSpPr>
          <p:cNvPr id="22" name="Text 22"/>
          <p:cNvSpPr/>
          <p:nvPr/>
        </p:nvSpPr>
        <p:spPr>
          <a:xfrm>
            <a:off x="5394960" y="4069080"/>
            <a:ext cx="457200" cy="45720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300" b="1" i="0">
                <a:solidFill>
                  <a:srgbClr val="18212F"/>
                </a:solidFill>
                <a:latin typeface="Aptos"/>
              </a:rPr>
              <a:t>3</a:t>
            </a:r>
            <a:endParaRPr lang="en-US" sz="1300"/>
          </a:p>
        </p:txBody>
      </p:sp>
      <p:sp>
        <p:nvSpPr>
          <p:cNvPr id="23" name="Text 23"/>
          <p:cNvSpPr/>
          <p:nvPr/>
        </p:nvSpPr>
        <p:spPr>
          <a:xfrm>
            <a:off x="6035040" y="4069080"/>
            <a:ext cx="457200" cy="45720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300" b="1" i="0">
                <a:solidFill>
                  <a:srgbClr val="18212F"/>
                </a:solidFill>
                <a:latin typeface="Aptos"/>
              </a:rPr>
              <a:t>4</a:t>
            </a:r>
            <a:endParaRPr lang="en-US" sz="1300"/>
          </a:p>
        </p:txBody>
      </p:sp>
      <p:sp>
        <p:nvSpPr>
          <p:cNvPr id="24" name="Text 24"/>
          <p:cNvSpPr/>
          <p:nvPr/>
        </p:nvSpPr>
        <p:spPr>
          <a:xfrm>
            <a:off x="6675120" y="4069080"/>
            <a:ext cx="457200" cy="45720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300" b="1" i="0">
                <a:solidFill>
                  <a:srgbClr val="18212F"/>
                </a:solidFill>
                <a:latin typeface="Aptos"/>
              </a:rPr>
              <a:t>5</a:t>
            </a:r>
            <a:endParaRPr lang="en-US" sz="1300"/>
          </a:p>
        </p:txBody>
      </p:sp>
      <p:sp>
        <p:nvSpPr>
          <p:cNvPr id="25" name="Text 25"/>
          <p:cNvSpPr/>
          <p:nvPr/>
        </p:nvSpPr>
        <p:spPr>
          <a:xfrm>
            <a:off x="9144000" y="3657600"/>
            <a:ext cx="1097280" cy="228600"/>
          </a:xfrm>
          <a:prstGeom prst="rect">
            <a:avLst/>
          </a:prstGeom>
          <a:noFill/>
          <a:ln>
            <a:noFill/>
          </a:ln>
        </p:spPr>
        <p:txBody>
          <a:bodyPr wrap="square" lIns="73152" rIns="73152" tIns="73152" bIns="73152">
            <a:lstStyle/>
          </a:bodyPr>
          <a:p>
            <a:pPr algn="ctr"/>
            <a:r>
              <a:rPr lang="en-US" sz="1300" b="1" i="0">
                <a:solidFill>
                  <a:srgbClr val="2E9D70"/>
                </a:solidFill>
                <a:latin typeface="Aptos"/>
              </a:rPr>
              <a:t>SR resend</a:t>
            </a:r>
            <a:endParaRPr lang="en-US" sz="1300"/>
          </a:p>
        </p:txBody>
      </p:sp>
      <p:sp>
        <p:nvSpPr>
          <p:cNvPr id="26" name="Text 26"/>
          <p:cNvSpPr/>
          <p:nvPr/>
        </p:nvSpPr>
        <p:spPr>
          <a:xfrm>
            <a:off x="9464040" y="4069080"/>
            <a:ext cx="457200" cy="457200"/>
          </a:xfrm>
          <a:prstGeom prst="roundRect">
            <a:avLst/>
          </a:prstGeom>
          <a:solidFill>
            <a:srgbClr val="E8FAFC"/>
          </a:solidFill>
          <a:ln w="11430">
            <a:solidFill>
              <a:srgbClr val="2E9D70"/>
            </a:solidFill>
          </a:ln>
        </p:spPr>
        <p:txBody>
          <a:bodyPr wrap="square" lIns="91440" rIns="91440" tIns="91440" bIns="91440" anchor="ctr">
            <a:lstStyle/>
          </a:bodyPr>
          <a:p>
            <a:pPr algn="ctr"/>
            <a:r>
              <a:rPr lang="en-US" sz="1300" b="1" i="0">
                <a:solidFill>
                  <a:srgbClr val="18212F"/>
                </a:solidFill>
                <a:latin typeface="Aptos"/>
              </a:rPr>
              <a:t>3</a:t>
            </a:r>
            <a:endParaRPr lang="en-US" sz="1300"/>
          </a:p>
        </p:txBody>
      </p:sp>
      <p:sp>
        <p:nvSpPr>
          <p:cNvPr id="27" name="Text 27"/>
          <p:cNvSpPr/>
          <p:nvPr/>
        </p:nvSpPr>
        <p:spPr>
          <a:xfrm>
            <a:off x="1051560" y="5349240"/>
            <a:ext cx="10058400" cy="502920"/>
          </a:xfrm>
          <a:prstGeom prst="rect">
            <a:avLst/>
          </a:prstGeom>
          <a:noFill/>
          <a:ln>
            <a:noFill/>
          </a:ln>
        </p:spPr>
        <p:txBody>
          <a:bodyPr wrap="square" lIns="73152" rIns="73152" tIns="73152" bIns="73152">
            <a:lstStyle/>
          </a:bodyPr>
          <a:p>
            <a:pPr algn="ctr"/>
            <a:r>
              <a:rPr lang="en-US" sz="1600" b="0" i="0">
                <a:solidFill>
                  <a:srgbClr val="14213D"/>
                </a:solidFill>
                <a:latin typeface="Aptos"/>
              </a:rPr>
              <a:t>Traditional RDMA started from a lossless-fabric assumption; lossy RDMA needs efficient recovery.</a:t>
            </a:r>
            <a:endParaRPr lang="en-US" sz="1600"/>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PFC: making Ethernet look lossless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§2.1; DCP Table 1</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6</a:t>
            </a:r>
            <a:endParaRPr lang="en-US" sz="900"/>
          </a:p>
        </p:txBody>
      </p:sp>
      <p:sp>
        <p:nvSpPr>
          <p:cNvPr id="5" name="Text 5"/>
          <p:cNvSpPr/>
          <p:nvPr/>
        </p:nvSpPr>
        <p:spPr>
          <a:xfrm>
            <a:off x="685800" y="914400"/>
            <a:ext cx="10515600" cy="320040"/>
          </a:xfrm>
          <a:prstGeom prst="rect">
            <a:avLst/>
          </a:prstGeom>
          <a:noFill/>
          <a:ln>
            <a:noFill/>
          </a:ln>
        </p:spPr>
        <p:txBody>
          <a:bodyPr wrap="square" lIns="73152" rIns="73152" tIns="73152" bIns="73152">
            <a:lstStyle/>
          </a:bodyPr>
          <a:p>
            <a:pPr algn="ctr" marL="0"/>
            <a:r>
              <a:rPr lang="en-US" sz="1900" b="1" i="0">
                <a:solidFill>
                  <a:srgbClr val="14213D"/>
                </a:solidFill>
                <a:latin typeface="Aptos"/>
              </a:rPr>
              <a:t>PFC = hop-by-hop PAUSE / RESUME backpressure</a:t>
            </a:r>
            <a:endParaRPr lang="en-US" sz="1900"/>
          </a:p>
        </p:txBody>
      </p:sp>
      <p:sp>
        <p:nvSpPr>
          <p:cNvPr id="6" name="Text 6"/>
          <p:cNvSpPr/>
          <p:nvPr/>
        </p:nvSpPr>
        <p:spPr>
          <a:xfrm>
            <a:off x="822960" y="2103120"/>
            <a:ext cx="2011680" cy="100584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Switch 1</a:t>
            </a:r>
            <a:endParaRPr lang="en-US" sz="1500"/>
          </a:p>
          <a:p>
            <a:pPr algn="ctr"/>
            <a:r>
              <a:rPr lang="en-US" sz="1500" b="1" i="0">
                <a:solidFill>
                  <a:srgbClr val="18212F"/>
                </a:solidFill>
                <a:latin typeface="Aptos"/>
              </a:rPr>
              <a:t>shared queues</a:t>
            </a:r>
            <a:endParaRPr lang="en-US" sz="1500"/>
          </a:p>
        </p:txBody>
      </p:sp>
      <p:sp>
        <p:nvSpPr>
          <p:cNvPr id="7" name="Text 7"/>
          <p:cNvSpPr/>
          <p:nvPr/>
        </p:nvSpPr>
        <p:spPr>
          <a:xfrm>
            <a:off x="4160520" y="2103120"/>
            <a:ext cx="2011680" cy="100584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Switch 2</a:t>
            </a:r>
            <a:endParaRPr lang="en-US" sz="1500"/>
          </a:p>
          <a:p>
            <a:pPr algn="ctr"/>
            <a:r>
              <a:rPr lang="en-US" sz="1500" b="1" i="0">
                <a:solidFill>
                  <a:srgbClr val="18212F"/>
                </a:solidFill>
                <a:latin typeface="Aptos"/>
              </a:rPr>
              <a:t>shared queues</a:t>
            </a:r>
            <a:endParaRPr lang="en-US" sz="1500"/>
          </a:p>
        </p:txBody>
      </p:sp>
      <p:sp>
        <p:nvSpPr>
          <p:cNvPr id="8" name="Text 8"/>
          <p:cNvSpPr/>
          <p:nvPr/>
        </p:nvSpPr>
        <p:spPr>
          <a:xfrm>
            <a:off x="7498079" y="2103120"/>
            <a:ext cx="2011680" cy="100584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Switch 3</a:t>
            </a:r>
            <a:endParaRPr lang="en-US" sz="1500"/>
          </a:p>
          <a:p>
            <a:pPr algn="ctr"/>
            <a:r>
              <a:rPr lang="en-US" sz="1500" b="1" i="0">
                <a:solidFill>
                  <a:srgbClr val="18212F"/>
                </a:solidFill>
                <a:latin typeface="Aptos"/>
              </a:rPr>
              <a:t>shared queues</a:t>
            </a:r>
            <a:endParaRPr lang="en-US" sz="1500"/>
          </a:p>
        </p:txBody>
      </p:sp>
      <p:sp>
        <p:nvSpPr>
          <p:cNvPr id="9" name="Line 9"/>
          <p:cNvSpPr/>
          <p:nvPr/>
        </p:nvSpPr>
        <p:spPr>
          <a:xfrm>
            <a:off x="2834640" y="2606040"/>
            <a:ext cx="1325879" cy="0"/>
          </a:xfrm>
          <a:prstGeom prst="line">
            <a:avLst/>
          </a:prstGeom>
          <a:ln w="25400">
            <a:solidFill>
              <a:srgbClr val="2F6FED"/>
            </a:solidFill>
            <a:headEnd type="triangle" w="sm" len="sm"/>
          </a:ln>
        </p:spPr>
      </p:sp>
      <p:sp>
        <p:nvSpPr>
          <p:cNvPr id="10" name="Line 10"/>
          <p:cNvSpPr/>
          <p:nvPr/>
        </p:nvSpPr>
        <p:spPr>
          <a:xfrm>
            <a:off x="6172200" y="2606040"/>
            <a:ext cx="1325879" cy="0"/>
          </a:xfrm>
          <a:prstGeom prst="line">
            <a:avLst/>
          </a:prstGeom>
          <a:ln w="25400">
            <a:solidFill>
              <a:srgbClr val="2F6FED"/>
            </a:solidFill>
            <a:headEnd type="triangle" w="sm" len="sm"/>
          </a:ln>
        </p:spPr>
      </p:sp>
      <p:sp>
        <p:nvSpPr>
          <p:cNvPr id="11" name="Text 11"/>
          <p:cNvSpPr/>
          <p:nvPr/>
        </p:nvSpPr>
        <p:spPr>
          <a:xfrm>
            <a:off x="8046720" y="1371600"/>
            <a:ext cx="1417320" cy="50292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300" b="1" i="0">
                <a:solidFill>
                  <a:srgbClr val="18212F"/>
                </a:solidFill>
                <a:latin typeface="Aptos"/>
              </a:rPr>
              <a:t>queue full</a:t>
            </a:r>
            <a:endParaRPr lang="en-US" sz="1300"/>
          </a:p>
        </p:txBody>
      </p:sp>
      <p:sp>
        <p:nvSpPr>
          <p:cNvPr id="12" name="Line 12"/>
          <p:cNvSpPr/>
          <p:nvPr/>
        </p:nvSpPr>
        <p:spPr>
          <a:xfrm>
            <a:off x="8229600" y="2103120"/>
            <a:ext cx="-2560320" cy="0"/>
          </a:xfrm>
          <a:prstGeom prst="line">
            <a:avLst/>
          </a:prstGeom>
          <a:ln w="25400">
            <a:solidFill>
              <a:srgbClr val="D95555"/>
            </a:solidFill>
            <a:headEnd type="triangle" w="sm" len="sm"/>
          </a:ln>
        </p:spPr>
      </p:sp>
      <p:sp>
        <p:nvSpPr>
          <p:cNvPr id="13" name="Line 13"/>
          <p:cNvSpPr/>
          <p:nvPr/>
        </p:nvSpPr>
        <p:spPr>
          <a:xfrm>
            <a:off x="5669280" y="2103120"/>
            <a:ext cx="-2926080" cy="0"/>
          </a:xfrm>
          <a:prstGeom prst="line">
            <a:avLst/>
          </a:prstGeom>
          <a:ln w="25400">
            <a:solidFill>
              <a:srgbClr val="D95555"/>
            </a:solidFill>
            <a:headEnd type="triangle" w="sm" len="sm"/>
          </a:ln>
        </p:spPr>
      </p:sp>
      <p:sp>
        <p:nvSpPr>
          <p:cNvPr id="14" name="Text 14"/>
          <p:cNvSpPr/>
          <p:nvPr/>
        </p:nvSpPr>
        <p:spPr>
          <a:xfrm>
            <a:off x="6263640" y="1783080"/>
            <a:ext cx="914400" cy="228600"/>
          </a:xfrm>
          <a:prstGeom prst="rect">
            <a:avLst/>
          </a:prstGeom>
          <a:noFill/>
          <a:ln>
            <a:noFill/>
          </a:ln>
        </p:spPr>
        <p:txBody>
          <a:bodyPr wrap="square" lIns="73152" rIns="73152" tIns="73152" bIns="73152">
            <a:lstStyle/>
          </a:bodyPr>
          <a:p>
            <a:pPr algn="ctr"/>
            <a:r>
              <a:rPr lang="en-US" sz="1300" b="1" i="0">
                <a:solidFill>
                  <a:srgbClr val="D95555"/>
                </a:solidFill>
                <a:latin typeface="Aptos"/>
              </a:rPr>
              <a:t>PAUSE</a:t>
            </a:r>
            <a:endParaRPr lang="en-US" sz="1300"/>
          </a:p>
        </p:txBody>
      </p:sp>
      <p:sp>
        <p:nvSpPr>
          <p:cNvPr id="15" name="Text 15"/>
          <p:cNvSpPr/>
          <p:nvPr/>
        </p:nvSpPr>
        <p:spPr>
          <a:xfrm>
            <a:off x="2057400" y="4160520"/>
            <a:ext cx="8046720" cy="320040"/>
          </a:xfrm>
          <a:prstGeom prst="rect">
            <a:avLst/>
          </a:prstGeom>
          <a:noFill/>
          <a:ln>
            <a:noFill/>
          </a:ln>
        </p:spPr>
        <p:txBody>
          <a:bodyPr wrap="square" lIns="73152" rIns="73152" tIns="73152" bIns="73152">
            <a:lstStyle/>
          </a:bodyPr>
          <a:p>
            <a:pPr algn="ctr"/>
            <a:r>
              <a:rPr lang="en-US" sz="1700" b="0" i="0">
                <a:solidFill>
                  <a:srgbClr val="18212F"/>
                </a:solidFill>
                <a:latin typeface="Aptos"/>
              </a:rPr>
              <a:t>Can protect packets, but may block unrelated traffic</a:t>
            </a:r>
            <a:endParaRPr lang="en-US" sz="1700"/>
          </a:p>
        </p:txBody>
      </p:sp>
      <p:sp>
        <p:nvSpPr>
          <p:cNvPr id="16" name="Text 16"/>
          <p:cNvSpPr/>
          <p:nvPr/>
        </p:nvSpPr>
        <p:spPr>
          <a:xfrm>
            <a:off x="2971800" y="4709160"/>
            <a:ext cx="6217920" cy="1097280"/>
          </a:xfrm>
          <a:prstGeom prst="rect">
            <a:avLst/>
          </a:prstGeom>
          <a:noFill/>
          <a:ln>
            <a:noFill/>
          </a:ln>
        </p:spPr>
        <p:txBody>
          <a:bodyPr wrap="square" lIns="27432" rIns="27432" tIns="27432" bIns="27432">
            <a:lstStyle/>
          </a:bodyPr>
          <a:p>
            <a:pPr algn="l"/>
            <a:r>
              <a:rPr lang="en-US" sz="1400" b="0" i="0">
                <a:solidFill>
                  <a:srgbClr val="18212F"/>
                </a:solidFill>
                <a:latin typeface="Aptos"/>
              </a:rPr>
              <a:t>• head-of-line blocking</a:t>
            </a:r>
            <a:endParaRPr lang="en-US" sz="1400"/>
          </a:p>
          <a:p>
            <a:pPr algn="l"/>
            <a:r>
              <a:rPr lang="en-US" sz="1400" b="0" i="0">
                <a:solidFill>
                  <a:srgbClr val="18212F"/>
                </a:solidFill>
                <a:latin typeface="Aptos"/>
              </a:rPr>
              <a:t>• congestion spreading / storms</a:t>
            </a:r>
            <a:endParaRPr lang="en-US" sz="1400"/>
          </a:p>
          <a:p>
            <a:pPr algn="l"/>
            <a:r>
              <a:rPr lang="en-US" sz="1400" b="0" i="0">
                <a:solidFill>
                  <a:srgbClr val="18212F"/>
                </a:solidFill>
                <a:latin typeface="Aptos"/>
              </a:rPr>
              <a:t>• deadlock and watchdog complexity</a:t>
            </a:r>
            <a:endParaRPr lang="en-US" sz="1400"/>
          </a:p>
          <a:p>
            <a:pPr algn="l"/>
            <a:r>
              <a:rPr lang="en-US" sz="1400" b="0" i="0">
                <a:solidFill>
                  <a:srgbClr val="18212F"/>
                </a:solidFill>
                <a:latin typeface="Aptos"/>
              </a:rPr>
              <a:t>• buffer headroom limits distance</a:t>
            </a:r>
            <a:endParaRPr lang="en-US" sz="1400"/>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Why consider a lossy fabric?</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0:45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§§1–3; networking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7</a:t>
            </a:r>
            <a:endParaRPr lang="en-US" sz="900"/>
          </a:p>
        </p:txBody>
      </p:sp>
      <p:sp>
        <p:nvSpPr>
          <p:cNvPr id="5" name="Text 5"/>
          <p:cNvSpPr/>
          <p:nvPr/>
        </p:nvSpPr>
        <p:spPr>
          <a:xfrm>
            <a:off x="822960" y="1417320"/>
            <a:ext cx="3383280" cy="1325880"/>
          </a:xfrm>
          <a:prstGeom prst="roundRect">
            <a:avLst/>
          </a:prstGeom>
          <a:solidFill>
            <a:srgbClr val="EAF1FF"/>
          </a:solidFill>
          <a:ln w="11430">
            <a:solidFill>
              <a:srgbClr val="2F6FED"/>
            </a:solidFill>
          </a:ln>
        </p:spPr>
        <p:txBody>
          <a:bodyPr wrap="square" lIns="91440" rIns="91440" tIns="91440" bIns="91440" anchor="ctr">
            <a:lstStyle/>
          </a:bodyPr>
          <a:p>
            <a:pPr algn="ctr" marL="0"/>
            <a:r>
              <a:rPr lang="en-US" sz="1900" b="1" i="0">
                <a:solidFill>
                  <a:srgbClr val="18212F"/>
                </a:solidFill>
                <a:latin typeface="Aptos"/>
              </a:rPr>
              <a:t>Lossless fabric</a:t>
            </a:r>
            <a:endParaRPr lang="en-US" sz="1900"/>
          </a:p>
          <a:p>
            <a:pPr algn="ctr"/>
            <a:r>
              <a:rPr lang="en-US" sz="1900" b="1" i="0">
                <a:solidFill>
                  <a:srgbClr val="18212F"/>
                </a:solidFill>
                <a:latin typeface="Aptos"/>
              </a:rPr>
              <a:t>prevent drops in switches</a:t>
            </a:r>
            <a:endParaRPr lang="en-US" sz="1900"/>
          </a:p>
        </p:txBody>
      </p:sp>
      <p:sp>
        <p:nvSpPr>
          <p:cNvPr id="6" name="Text 6"/>
          <p:cNvSpPr/>
          <p:nvPr/>
        </p:nvSpPr>
        <p:spPr>
          <a:xfrm>
            <a:off x="7955279" y="1417320"/>
            <a:ext cx="3383280" cy="1325880"/>
          </a:xfrm>
          <a:prstGeom prst="roundRect">
            <a:avLst/>
          </a:prstGeom>
          <a:solidFill>
            <a:srgbClr val="FFF4DD"/>
          </a:solidFill>
          <a:ln w="11430">
            <a:solidFill>
              <a:srgbClr val="F59E0B"/>
            </a:solidFill>
          </a:ln>
        </p:spPr>
        <p:txBody>
          <a:bodyPr wrap="square" lIns="91440" rIns="91440" tIns="91440" bIns="91440" anchor="ctr">
            <a:lstStyle/>
          </a:bodyPr>
          <a:p>
            <a:pPr algn="ctr" marL="0"/>
            <a:r>
              <a:rPr lang="en-US" sz="1900" b="1" i="0">
                <a:solidFill>
                  <a:srgbClr val="18212F"/>
                </a:solidFill>
                <a:latin typeface="Aptos"/>
              </a:rPr>
              <a:t>Lossy fabric</a:t>
            </a:r>
            <a:endParaRPr lang="en-US" sz="1900"/>
          </a:p>
          <a:p>
            <a:pPr algn="ctr"/>
            <a:r>
              <a:rPr lang="en-US" sz="1900" b="1" i="0">
                <a:solidFill>
                  <a:srgbClr val="18212F"/>
                </a:solidFill>
                <a:latin typeface="Aptos"/>
              </a:rPr>
              <a:t>allow drops; recover at endpoints</a:t>
            </a:r>
            <a:endParaRPr lang="en-US" sz="1900"/>
          </a:p>
        </p:txBody>
      </p:sp>
      <p:sp>
        <p:nvSpPr>
          <p:cNvPr id="7" name="Line 7"/>
          <p:cNvSpPr/>
          <p:nvPr/>
        </p:nvSpPr>
        <p:spPr>
          <a:xfrm>
            <a:off x="4297680" y="2075688"/>
            <a:ext cx="3474720" cy="0"/>
          </a:xfrm>
          <a:prstGeom prst="line">
            <a:avLst/>
          </a:prstGeom>
          <a:ln w="38100">
            <a:solidFill>
              <a:srgbClr val="2E9D70"/>
            </a:solidFill>
            <a:headEnd type="triangle" w="sm" len="sm"/>
          </a:ln>
        </p:spPr>
      </p:sp>
      <p:sp>
        <p:nvSpPr>
          <p:cNvPr id="8" name="Text 8"/>
          <p:cNvSpPr/>
          <p:nvPr/>
        </p:nvSpPr>
        <p:spPr>
          <a:xfrm>
            <a:off x="2103120" y="3429000"/>
            <a:ext cx="8046720" cy="731520"/>
          </a:xfrm>
          <a:prstGeom prst="rect">
            <a:avLst/>
          </a:prstGeom>
          <a:noFill/>
          <a:ln>
            <a:noFill/>
          </a:ln>
        </p:spPr>
        <p:txBody>
          <a:bodyPr wrap="square" lIns="73152" rIns="73152" tIns="73152" bIns="73152">
            <a:lstStyle/>
          </a:bodyPr>
          <a:p>
            <a:pPr algn="ctr" marL="0"/>
            <a:r>
              <a:rPr lang="en-US" sz="2000" b="1" i="0">
                <a:solidFill>
                  <a:srgbClr val="14213D"/>
                </a:solidFill>
                <a:latin typeface="Aptos"/>
              </a:rPr>
              <a:t>DCP tries to keep the data path lossy</a:t>
            </a:r>
            <a:endParaRPr lang="en-US" sz="2000"/>
          </a:p>
          <a:p>
            <a:pPr algn="ctr"/>
            <a:r>
              <a:rPr lang="en-US" sz="2000" b="1" i="0">
                <a:solidFill>
                  <a:srgbClr val="14213D"/>
                </a:solidFill>
                <a:latin typeface="Aptos"/>
              </a:rPr>
              <a:t>while making loss evidence small and reliable</a:t>
            </a:r>
            <a:endParaRPr lang="en-US" sz="2000"/>
          </a:p>
        </p:txBody>
      </p:sp>
      <p:sp>
        <p:nvSpPr>
          <p:cNvPr id="9" name="Text 9"/>
          <p:cNvSpPr/>
          <p:nvPr/>
        </p:nvSpPr>
        <p:spPr>
          <a:xfrm>
            <a:off x="2011680" y="4983480"/>
            <a:ext cx="8229600" cy="320040"/>
          </a:xfrm>
          <a:prstGeom prst="rect">
            <a:avLst/>
          </a:prstGeom>
          <a:noFill/>
          <a:ln>
            <a:noFill/>
          </a:ln>
        </p:spPr>
        <p:txBody>
          <a:bodyPr wrap="square" lIns="73152" rIns="73152" tIns="73152" bIns="73152">
            <a:lstStyle/>
          </a:bodyPr>
          <a:p>
            <a:pPr algn="ctr"/>
            <a:r>
              <a:rPr lang="en-US" sz="1700" b="1" i="0">
                <a:solidFill>
                  <a:srgbClr val="176B4C"/>
                </a:solidFill>
                <a:latin typeface="Aptos"/>
              </a:rPr>
              <a:t>Reliable RDMA operation ≠ every fabric packet is lossless</a:t>
            </a:r>
            <a:endParaRPr lang="en-US" sz="1700"/>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Analyzed RNIC-SR: reordering can look like loss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1:15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§2.2; DCP Figure 1</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8</a:t>
            </a:r>
            <a:endParaRPr lang="en-US" sz="900"/>
          </a:p>
        </p:txBody>
      </p:sp>
      <p:sp>
        <p:nvSpPr>
          <p:cNvPr id="5" name="Text 5"/>
          <p:cNvSpPr/>
          <p:nvPr/>
        </p:nvSpPr>
        <p:spPr>
          <a:xfrm>
            <a:off x="685800" y="868680"/>
            <a:ext cx="10789920" cy="411480"/>
          </a:xfrm>
          <a:prstGeom prst="rect">
            <a:avLst/>
          </a:prstGeom>
          <a:noFill/>
          <a:ln>
            <a:noFill/>
          </a:ln>
        </p:spPr>
        <p:txBody>
          <a:bodyPr wrap="square" lIns="73152" rIns="73152" tIns="73152" bIns="73152">
            <a:lstStyle/>
          </a:bodyPr>
          <a:p>
            <a:pPr algn="ctr" marL="0"/>
            <a:r>
              <a:rPr lang="en-US" sz="1800" b="1" i="0">
                <a:solidFill>
                  <a:srgbClr val="14213D"/>
                </a:solidFill>
                <a:latin typeface="Aptos"/>
              </a:rPr>
              <a:t>Packet-level load balancing improves path use—but creates legitimate reordering.</a:t>
            </a:r>
            <a:endParaRPr lang="en-US" sz="1800"/>
          </a:p>
        </p:txBody>
      </p:sp>
      <p:sp>
        <p:nvSpPr>
          <p:cNvPr id="6" name="Text 6"/>
          <p:cNvSpPr/>
          <p:nvPr/>
        </p:nvSpPr>
        <p:spPr>
          <a:xfrm>
            <a:off x="1097280" y="1920240"/>
            <a:ext cx="1828800" cy="77724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600" b="1" i="0">
                <a:solidFill>
                  <a:srgbClr val="18212F"/>
                </a:solidFill>
                <a:latin typeface="Aptos"/>
              </a:rPr>
              <a:t>Path A</a:t>
            </a:r>
            <a:endParaRPr lang="en-US" sz="1600"/>
          </a:p>
          <a:p>
            <a:pPr algn="ctr"/>
            <a:r>
              <a:rPr lang="en-US" sz="1600" b="1" i="0">
                <a:solidFill>
                  <a:srgbClr val="18212F"/>
                </a:solidFill>
                <a:latin typeface="Aptos"/>
              </a:rPr>
              <a:t>short</a:t>
            </a:r>
            <a:endParaRPr lang="en-US" sz="1600"/>
          </a:p>
        </p:txBody>
      </p:sp>
      <p:sp>
        <p:nvSpPr>
          <p:cNvPr id="7" name="Text 7"/>
          <p:cNvSpPr/>
          <p:nvPr/>
        </p:nvSpPr>
        <p:spPr>
          <a:xfrm>
            <a:off x="1097280" y="3886200"/>
            <a:ext cx="1828800" cy="77724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600" b="1" i="0">
                <a:solidFill>
                  <a:srgbClr val="18212F"/>
                </a:solidFill>
                <a:latin typeface="Aptos"/>
              </a:rPr>
              <a:t>Path B</a:t>
            </a:r>
            <a:endParaRPr lang="en-US" sz="1600"/>
          </a:p>
          <a:p>
            <a:pPr algn="ctr"/>
            <a:r>
              <a:rPr lang="en-US" sz="1600" b="1" i="0">
                <a:solidFill>
                  <a:srgbClr val="18212F"/>
                </a:solidFill>
                <a:latin typeface="Aptos"/>
              </a:rPr>
              <a:t>long</a:t>
            </a:r>
            <a:endParaRPr lang="en-US" sz="1600"/>
          </a:p>
        </p:txBody>
      </p:sp>
      <p:sp>
        <p:nvSpPr>
          <p:cNvPr id="8" name="Text 8"/>
          <p:cNvSpPr/>
          <p:nvPr/>
        </p:nvSpPr>
        <p:spPr>
          <a:xfrm>
            <a:off x="8961120" y="2743200"/>
            <a:ext cx="1828800" cy="77724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Receiver</a:t>
            </a:r>
            <a:endParaRPr lang="en-US" sz="1600"/>
          </a:p>
        </p:txBody>
      </p:sp>
      <p:sp>
        <p:nvSpPr>
          <p:cNvPr id="9" name="Text 9"/>
          <p:cNvSpPr/>
          <p:nvPr/>
        </p:nvSpPr>
        <p:spPr>
          <a:xfrm>
            <a:off x="3840480" y="1737360"/>
            <a:ext cx="914400" cy="5029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300" b="1" i="0">
                <a:solidFill>
                  <a:srgbClr val="18212F"/>
                </a:solidFill>
                <a:latin typeface="Aptos"/>
              </a:rPr>
              <a:t>PSN 1</a:t>
            </a:r>
            <a:endParaRPr lang="en-US" sz="1300"/>
          </a:p>
        </p:txBody>
      </p:sp>
      <p:sp>
        <p:nvSpPr>
          <p:cNvPr id="10" name="Text 10"/>
          <p:cNvSpPr/>
          <p:nvPr/>
        </p:nvSpPr>
        <p:spPr>
          <a:xfrm>
            <a:off x="3840480" y="4160520"/>
            <a:ext cx="914400" cy="50292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300" b="1" i="0">
                <a:solidFill>
                  <a:srgbClr val="18212F"/>
                </a:solidFill>
                <a:latin typeface="Aptos"/>
              </a:rPr>
              <a:t>PSN 2</a:t>
            </a:r>
            <a:endParaRPr lang="en-US" sz="1300"/>
          </a:p>
        </p:txBody>
      </p:sp>
      <p:sp>
        <p:nvSpPr>
          <p:cNvPr id="11" name="Text 11"/>
          <p:cNvSpPr/>
          <p:nvPr/>
        </p:nvSpPr>
        <p:spPr>
          <a:xfrm>
            <a:off x="5852160" y="2148840"/>
            <a:ext cx="914400" cy="50292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300" b="1" i="0">
                <a:solidFill>
                  <a:srgbClr val="18212F"/>
                </a:solidFill>
                <a:latin typeface="Aptos"/>
              </a:rPr>
              <a:t>PSN 3</a:t>
            </a:r>
            <a:endParaRPr lang="en-US" sz="1300"/>
          </a:p>
        </p:txBody>
      </p:sp>
      <p:sp>
        <p:nvSpPr>
          <p:cNvPr id="12" name="Line 12"/>
          <p:cNvSpPr/>
          <p:nvPr/>
        </p:nvSpPr>
        <p:spPr>
          <a:xfrm>
            <a:off x="2926080" y="2286000"/>
            <a:ext cx="914400" cy="-274319"/>
          </a:xfrm>
          <a:prstGeom prst="line">
            <a:avLst/>
          </a:prstGeom>
          <a:ln w="25400">
            <a:solidFill>
              <a:srgbClr val="24B6C7"/>
            </a:solidFill>
            <a:headEnd type="triangle" w="sm" len="sm"/>
          </a:ln>
        </p:spPr>
      </p:sp>
      <p:sp>
        <p:nvSpPr>
          <p:cNvPr id="13" name="Line 13"/>
          <p:cNvSpPr/>
          <p:nvPr/>
        </p:nvSpPr>
        <p:spPr>
          <a:xfrm>
            <a:off x="2926080" y="4297680"/>
            <a:ext cx="914400" cy="91439"/>
          </a:xfrm>
          <a:prstGeom prst="line">
            <a:avLst/>
          </a:prstGeom>
          <a:ln w="25400">
            <a:solidFill>
              <a:srgbClr val="F59E0B"/>
            </a:solidFill>
            <a:headEnd type="triangle" w="sm" len="sm"/>
          </a:ln>
        </p:spPr>
      </p:sp>
      <p:sp>
        <p:nvSpPr>
          <p:cNvPr id="14" name="Line 14"/>
          <p:cNvSpPr/>
          <p:nvPr/>
        </p:nvSpPr>
        <p:spPr>
          <a:xfrm>
            <a:off x="4754880" y="2011680"/>
            <a:ext cx="4206240" cy="1051560"/>
          </a:xfrm>
          <a:prstGeom prst="line">
            <a:avLst/>
          </a:prstGeom>
          <a:ln w="22860">
            <a:solidFill>
              <a:srgbClr val="24B6C7"/>
            </a:solidFill>
            <a:headEnd type="triangle" w="sm" len="sm"/>
          </a:ln>
        </p:spPr>
      </p:sp>
      <p:sp>
        <p:nvSpPr>
          <p:cNvPr id="15" name="Line 15"/>
          <p:cNvSpPr/>
          <p:nvPr/>
        </p:nvSpPr>
        <p:spPr>
          <a:xfrm>
            <a:off x="4754880" y="4389120"/>
            <a:ext cx="4206240" cy="-1051560"/>
          </a:xfrm>
          <a:prstGeom prst="line">
            <a:avLst/>
          </a:prstGeom>
          <a:ln w="22860">
            <a:solidFill>
              <a:srgbClr val="F59E0B"/>
            </a:solidFill>
            <a:headEnd type="triangle" w="sm" len="sm"/>
          </a:ln>
        </p:spPr>
      </p:sp>
      <p:sp>
        <p:nvSpPr>
          <p:cNvPr id="16" name="Line 16"/>
          <p:cNvSpPr/>
          <p:nvPr/>
        </p:nvSpPr>
        <p:spPr>
          <a:xfrm>
            <a:off x="6766560" y="2395728"/>
            <a:ext cx="2194560" cy="804671"/>
          </a:xfrm>
          <a:prstGeom prst="line">
            <a:avLst/>
          </a:prstGeom>
          <a:ln w="22860">
            <a:solidFill>
              <a:srgbClr val="24B6C7"/>
            </a:solidFill>
            <a:headEnd type="triangle" w="sm" len="sm"/>
          </a:ln>
        </p:spPr>
      </p:sp>
      <p:sp>
        <p:nvSpPr>
          <p:cNvPr id="17" name="Text 17"/>
          <p:cNvSpPr/>
          <p:nvPr/>
        </p:nvSpPr>
        <p:spPr>
          <a:xfrm>
            <a:off x="4800600" y="5120640"/>
            <a:ext cx="2834640" cy="594360"/>
          </a:xfrm>
          <a:prstGeom prst="rect">
            <a:avLst/>
          </a:prstGeom>
          <a:noFill/>
          <a:ln>
            <a:noFill/>
          </a:ln>
        </p:spPr>
        <p:txBody>
          <a:bodyPr wrap="square" lIns="73152" rIns="73152" tIns="73152" bIns="73152">
            <a:lstStyle/>
          </a:bodyPr>
          <a:p>
            <a:pPr algn="ctr"/>
            <a:r>
              <a:rPr lang="en-US" sz="1600" b="1" i="0">
                <a:solidFill>
                  <a:srgbClr val="D95555"/>
                </a:solidFill>
                <a:latin typeface="Aptos"/>
              </a:rPr>
              <a:t>arrival order: 1, 3, 2</a:t>
            </a:r>
            <a:endParaRPr lang="en-US" sz="1600"/>
          </a:p>
          <a:p>
            <a:pPr algn="ctr"/>
            <a:r>
              <a:rPr lang="en-US" sz="1600" b="1" i="0">
                <a:solidFill>
                  <a:srgbClr val="D95555"/>
                </a:solidFill>
                <a:latin typeface="Aptos"/>
              </a:rPr>
              <a:t>not proof that 2 was lost</a:t>
            </a:r>
            <a:endParaRPr lang="en-US" sz="1600"/>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Problem 1: load balancing and loss detection</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1:25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§2.2; DCP Figure 1</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9</a:t>
            </a:r>
            <a:endParaRPr lang="en-US" sz="900"/>
          </a:p>
        </p:txBody>
      </p:sp>
      <p:sp>
        <p:nvSpPr>
          <p:cNvPr id="5" name="Text 5"/>
          <p:cNvSpPr/>
          <p:nvPr/>
        </p:nvSpPr>
        <p:spPr>
          <a:xfrm>
            <a:off x="685800" y="1143000"/>
            <a:ext cx="3383280" cy="18288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6" name="Text 6"/>
          <p:cNvSpPr/>
          <p:nvPr/>
        </p:nvSpPr>
        <p:spPr>
          <a:xfrm>
            <a:off x="685800" y="1143000"/>
            <a:ext cx="73152" cy="1828800"/>
          </a:xfrm>
          <a:prstGeom prst="rect">
            <a:avLst/>
          </a:prstGeom>
          <a:solidFill>
            <a:srgbClr val="2F6FED"/>
          </a:solidFill>
          <a:ln w="11430">
            <a:solidFill>
              <a:srgbClr val="2F6FED"/>
            </a:solidFill>
          </a:ln>
        </p:spPr>
        <p:txBody>
          <a:bodyPr wrap="square" lIns="0" rIns="0" tIns="0" bIns="0">
            <a:lstStyle/>
          </a:bodyPr>
          <a:p>
            <a:pPr algn="l"/>
            <a:r>
              <a:rPr lang="en-US" sz="100" b="0" i="0">
                <a:solidFill>
                  <a:srgbClr val="18212F"/>
                </a:solidFill>
                <a:latin typeface="Aptos"/>
              </a:rPr>
              <a:t/>
            </a:r>
            <a:endParaRPr lang="en-US" sz="100"/>
          </a:p>
        </p:txBody>
      </p:sp>
      <p:sp>
        <p:nvSpPr>
          <p:cNvPr id="7" name="Text 7"/>
          <p:cNvSpPr/>
          <p:nvPr/>
        </p:nvSpPr>
        <p:spPr>
          <a:xfrm>
            <a:off x="868680" y="1289304"/>
            <a:ext cx="30632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ECMP</a:t>
            </a:r>
            <a:endParaRPr lang="en-US" sz="1500"/>
          </a:p>
        </p:txBody>
      </p:sp>
      <p:sp>
        <p:nvSpPr>
          <p:cNvPr id="8" name="Text 8"/>
          <p:cNvSpPr/>
          <p:nvPr/>
        </p:nvSpPr>
        <p:spPr>
          <a:xfrm>
            <a:off x="868680" y="1691640"/>
            <a:ext cx="3063240" cy="1170432"/>
          </a:xfrm>
          <a:prstGeom prst="rect">
            <a:avLst/>
          </a:prstGeom>
          <a:noFill/>
          <a:ln>
            <a:noFill/>
          </a:ln>
        </p:spPr>
        <p:txBody>
          <a:bodyPr wrap="square" lIns="73152" rIns="73152" tIns="73152" bIns="73152">
            <a:lstStyle/>
          </a:bodyPr>
          <a:p>
            <a:pPr algn="l"/>
            <a:r>
              <a:rPr lang="en-US" sz="1600" b="0" i="0">
                <a:solidFill>
                  <a:srgbClr val="18212F"/>
                </a:solidFill>
                <a:latin typeface="Aptos"/>
              </a:rPr>
              <a:t>Flow-level hash</a:t>
            </a:r>
            <a:endParaRPr lang="en-US" sz="1600"/>
          </a:p>
          <a:p>
            <a:pPr algn="l"/>
            <a:r>
              <a:rPr lang="en-US" sz="1600" b="0" i="0">
                <a:solidFill>
                  <a:srgbClr val="18212F"/>
                </a:solidFill>
                <a:latin typeface="Aptos"/>
              </a:rPr>
              <a:t>+ fewer reordering problems</a:t>
            </a:r>
            <a:endParaRPr lang="en-US" sz="1600"/>
          </a:p>
          <a:p>
            <a:pPr algn="l"/>
            <a:r>
              <a:rPr lang="en-US" sz="1600" b="0" i="0">
                <a:solidFill>
                  <a:srgbClr val="18212F"/>
                </a:solidFill>
                <a:latin typeface="Aptos"/>
              </a:rPr>
              <a:t>− collisions can hotspot a path</a:t>
            </a:r>
            <a:endParaRPr lang="en-US" sz="1600"/>
          </a:p>
        </p:txBody>
      </p:sp>
      <p:sp>
        <p:nvSpPr>
          <p:cNvPr id="9" name="Text 9"/>
          <p:cNvSpPr/>
          <p:nvPr/>
        </p:nvSpPr>
        <p:spPr>
          <a:xfrm>
            <a:off x="4389120" y="1143000"/>
            <a:ext cx="3383280" cy="18288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0" name="Text 10"/>
          <p:cNvSpPr/>
          <p:nvPr/>
        </p:nvSpPr>
        <p:spPr>
          <a:xfrm>
            <a:off x="4389120" y="1143000"/>
            <a:ext cx="73152" cy="1828800"/>
          </a:xfrm>
          <a:prstGeom prst="rect">
            <a:avLst/>
          </a:prstGeom>
          <a:solidFill>
            <a:srgbClr val="2E9D70"/>
          </a:solidFill>
          <a:ln w="11430">
            <a:solidFill>
              <a:srgbClr val="2E9D70"/>
            </a:solidFill>
          </a:ln>
        </p:spPr>
        <p:txBody>
          <a:bodyPr wrap="square" lIns="0" rIns="0" tIns="0" bIns="0">
            <a:lstStyle/>
          </a:bodyPr>
          <a:p>
            <a:pPr algn="l"/>
            <a:r>
              <a:rPr lang="en-US" sz="100" b="0" i="0">
                <a:solidFill>
                  <a:srgbClr val="18212F"/>
                </a:solidFill>
                <a:latin typeface="Aptos"/>
              </a:rPr>
              <a:t/>
            </a:r>
            <a:endParaRPr lang="en-US" sz="100"/>
          </a:p>
        </p:txBody>
      </p:sp>
      <p:sp>
        <p:nvSpPr>
          <p:cNvPr id="11" name="Text 11"/>
          <p:cNvSpPr/>
          <p:nvPr/>
        </p:nvSpPr>
        <p:spPr>
          <a:xfrm>
            <a:off x="4572000" y="1289304"/>
            <a:ext cx="30632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Packet-level LB</a:t>
            </a:r>
            <a:endParaRPr lang="en-US" sz="1500"/>
          </a:p>
        </p:txBody>
      </p:sp>
      <p:sp>
        <p:nvSpPr>
          <p:cNvPr id="12" name="Text 12"/>
          <p:cNvSpPr/>
          <p:nvPr/>
        </p:nvSpPr>
        <p:spPr>
          <a:xfrm>
            <a:off x="4572000" y="1691640"/>
            <a:ext cx="3063240" cy="1170432"/>
          </a:xfrm>
          <a:prstGeom prst="rect">
            <a:avLst/>
          </a:prstGeom>
          <a:noFill/>
          <a:ln>
            <a:noFill/>
          </a:ln>
        </p:spPr>
        <p:txBody>
          <a:bodyPr wrap="square" lIns="73152" rIns="73152" tIns="73152" bIns="73152">
            <a:lstStyle/>
          </a:bodyPr>
          <a:p>
            <a:pPr algn="l"/>
            <a:r>
              <a:rPr lang="en-US" sz="1600" b="0" i="0">
                <a:solidFill>
                  <a:srgbClr val="18212F"/>
                </a:solidFill>
                <a:latin typeface="Aptos"/>
              </a:rPr>
              <a:t>Per-packet/adaptive paths</a:t>
            </a:r>
            <a:endParaRPr lang="en-US" sz="1600"/>
          </a:p>
          <a:p>
            <a:pPr algn="l"/>
            <a:r>
              <a:rPr lang="en-US" sz="1600" b="0" i="0">
                <a:solidFill>
                  <a:srgbClr val="18212F"/>
                </a:solidFill>
                <a:latin typeface="Aptos"/>
              </a:rPr>
              <a:t>+ path utilization</a:t>
            </a:r>
            <a:endParaRPr lang="en-US" sz="1600"/>
          </a:p>
          <a:p>
            <a:pPr algn="l"/>
            <a:r>
              <a:rPr lang="en-US" sz="1600" b="0" i="0">
                <a:solidFill>
                  <a:srgbClr val="18212F"/>
                </a:solidFill>
                <a:latin typeface="Aptos"/>
              </a:rPr>
              <a:t>− out-of-order arrivals</a:t>
            </a:r>
            <a:endParaRPr lang="en-US" sz="1600"/>
          </a:p>
        </p:txBody>
      </p:sp>
      <p:sp>
        <p:nvSpPr>
          <p:cNvPr id="13" name="Text 13"/>
          <p:cNvSpPr/>
          <p:nvPr/>
        </p:nvSpPr>
        <p:spPr>
          <a:xfrm>
            <a:off x="8092440" y="1143000"/>
            <a:ext cx="3383280" cy="18288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4" name="Text 14"/>
          <p:cNvSpPr/>
          <p:nvPr/>
        </p:nvSpPr>
        <p:spPr>
          <a:xfrm>
            <a:off x="8092440" y="1143000"/>
            <a:ext cx="73152" cy="1828800"/>
          </a:xfrm>
          <a:prstGeom prst="rect">
            <a:avLst/>
          </a:prstGeom>
          <a:solidFill>
            <a:srgbClr val="D95555"/>
          </a:solidFill>
          <a:ln w="11430">
            <a:solidFill>
              <a:srgbClr val="D95555"/>
            </a:solidFill>
          </a:ln>
        </p:spPr>
        <p:txBody>
          <a:bodyPr wrap="square" lIns="0" rIns="0" tIns="0" bIns="0">
            <a:lstStyle/>
          </a:bodyPr>
          <a:p>
            <a:pPr algn="l"/>
            <a:r>
              <a:rPr lang="en-US" sz="100" b="0" i="0">
                <a:solidFill>
                  <a:srgbClr val="18212F"/>
                </a:solidFill>
                <a:latin typeface="Aptos"/>
              </a:rPr>
              <a:t/>
            </a:r>
            <a:endParaRPr lang="en-US" sz="100"/>
          </a:p>
        </p:txBody>
      </p:sp>
      <p:sp>
        <p:nvSpPr>
          <p:cNvPr id="15" name="Text 15"/>
          <p:cNvSpPr/>
          <p:nvPr/>
        </p:nvSpPr>
        <p:spPr>
          <a:xfrm>
            <a:off x="8275319" y="1289304"/>
            <a:ext cx="30632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RNIC-SR ambiguity</a:t>
            </a:r>
            <a:endParaRPr lang="en-US" sz="1500"/>
          </a:p>
        </p:txBody>
      </p:sp>
      <p:sp>
        <p:nvSpPr>
          <p:cNvPr id="16" name="Text 16"/>
          <p:cNvSpPr/>
          <p:nvPr/>
        </p:nvSpPr>
        <p:spPr>
          <a:xfrm>
            <a:off x="8275319" y="1691640"/>
            <a:ext cx="3063240" cy="1170432"/>
          </a:xfrm>
          <a:prstGeom prst="rect">
            <a:avLst/>
          </a:prstGeom>
          <a:noFill/>
          <a:ln>
            <a:noFill/>
          </a:ln>
        </p:spPr>
        <p:txBody>
          <a:bodyPr wrap="square" lIns="73152" rIns="73152" tIns="73152" bIns="73152">
            <a:lstStyle/>
          </a:bodyPr>
          <a:p>
            <a:pPr algn="l"/>
            <a:r>
              <a:rPr lang="en-US" sz="1600" b="0" i="0">
                <a:solidFill>
                  <a:srgbClr val="18212F"/>
                </a:solidFill>
                <a:latin typeface="Aptos"/>
              </a:rPr>
              <a:t>SACK sees a gap</a:t>
            </a:r>
            <a:endParaRPr lang="en-US" sz="1600"/>
          </a:p>
          <a:p>
            <a:pPr algn="l"/>
            <a:r>
              <a:rPr lang="en-US" sz="1600" b="0" i="0">
                <a:solidFill>
                  <a:srgbClr val="18212F"/>
                </a:solidFill>
                <a:latin typeface="Aptos"/>
              </a:rPr>
              <a:t>Is it loss—or a late packet?</a:t>
            </a:r>
            <a:endParaRPr lang="en-US" sz="1600"/>
          </a:p>
          <a:p>
            <a:pPr algn="l"/>
            <a:r>
              <a:rPr lang="en-US" sz="1600" b="0" i="0">
                <a:solidFill>
                  <a:srgbClr val="18212F"/>
                </a:solidFill>
                <a:latin typeface="Aptos"/>
              </a:rPr>
              <a:t>Spurious retransmission</a:t>
            </a:r>
            <a:endParaRPr lang="en-US" sz="1600"/>
          </a:p>
        </p:txBody>
      </p:sp>
      <p:sp>
        <p:nvSpPr>
          <p:cNvPr id="17" name="Text 17"/>
          <p:cNvSpPr/>
          <p:nvPr/>
        </p:nvSpPr>
        <p:spPr>
          <a:xfrm>
            <a:off x="914400" y="3794760"/>
            <a:ext cx="2926080" cy="274320"/>
          </a:xfrm>
          <a:prstGeom prst="rect">
            <a:avLst/>
          </a:prstGeom>
          <a:noFill/>
          <a:ln>
            <a:noFill/>
          </a:ln>
        </p:spPr>
        <p:txBody>
          <a:bodyPr wrap="square" lIns="73152" rIns="73152" tIns="73152" bIns="73152">
            <a:lstStyle/>
          </a:bodyPr>
          <a:p>
            <a:pPr algn="l"/>
            <a:r>
              <a:rPr lang="en-US" sz="1500" b="1" i="0">
                <a:solidFill>
                  <a:srgbClr val="5B677A"/>
                </a:solidFill>
                <a:latin typeface="Aptos"/>
              </a:rPr>
              <a:t>Paper’s reported NS-3 observation</a:t>
            </a:r>
            <a:endParaRPr lang="en-US" sz="1500"/>
          </a:p>
        </p:txBody>
      </p:sp>
      <p:sp>
        <p:nvSpPr>
          <p:cNvPr id="18" name="Text 18"/>
          <p:cNvSpPr/>
          <p:nvPr/>
        </p:nvSpPr>
        <p:spPr>
          <a:xfrm>
            <a:off x="4434840" y="3520440"/>
            <a:ext cx="3657600" cy="100584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700" b="1" i="0">
                <a:solidFill>
                  <a:srgbClr val="18212F"/>
                </a:solidFill>
                <a:latin typeface="Aptos"/>
              </a:rPr>
              <a:t>No packet loss observed</a:t>
            </a:r>
            <a:endParaRPr lang="en-US" sz="1700"/>
          </a:p>
          <a:p>
            <a:pPr algn="ctr"/>
            <a:r>
              <a:rPr lang="en-US" sz="1700" b="1" i="0">
                <a:solidFill>
                  <a:srgbClr val="18212F"/>
                </a:solidFill>
                <a:latin typeface="Aptos"/>
              </a:rPr>
              <a:t>but spurious retransmissions occurred</a:t>
            </a:r>
            <a:endParaRPr lang="en-US" sz="1700"/>
          </a:p>
        </p:txBody>
      </p:sp>
      <p:sp>
        <p:nvSpPr>
          <p:cNvPr id="19" name="Text 19"/>
          <p:cNvSpPr/>
          <p:nvPr/>
        </p:nvSpPr>
        <p:spPr>
          <a:xfrm>
            <a:off x="1828800" y="5166360"/>
            <a:ext cx="8503920" cy="411480"/>
          </a:xfrm>
          <a:prstGeom prst="rect">
            <a:avLst/>
          </a:prstGeom>
          <a:noFill/>
          <a:ln>
            <a:noFill/>
          </a:ln>
        </p:spPr>
        <p:txBody>
          <a:bodyPr wrap="square" lIns="73152" rIns="73152" tIns="73152" bIns="73152">
            <a:lstStyle/>
          </a:bodyPr>
          <a:p>
            <a:pPr algn="ctr"/>
            <a:r>
              <a:rPr lang="en-US" sz="1600" b="0" i="0">
                <a:solidFill>
                  <a:srgbClr val="14213D"/>
                </a:solidFill>
                <a:latin typeface="Aptos"/>
              </a:rPr>
              <a:t>The result is workload/topology/configuration-specific evidence—not a universal rate.</a:t>
            </a:r>
            <a:endParaRPr lang="en-US" sz="1600"/>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Problem 2: RTOs hurt tail latency</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1:15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§2.2; DCP Figure 2</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10</a:t>
            </a:r>
            <a:endParaRPr lang="en-US" sz="900"/>
          </a:p>
        </p:txBody>
      </p:sp>
      <p:sp>
        <p:nvSpPr>
          <p:cNvPr id="5" name="Text 5"/>
          <p:cNvSpPr/>
          <p:nvPr/>
        </p:nvSpPr>
        <p:spPr>
          <a:xfrm>
            <a:off x="777240" y="914400"/>
            <a:ext cx="10424160" cy="365760"/>
          </a:xfrm>
          <a:prstGeom prst="rect">
            <a:avLst/>
          </a:prstGeom>
          <a:noFill/>
          <a:ln>
            <a:noFill/>
          </a:ln>
        </p:spPr>
        <p:txBody>
          <a:bodyPr wrap="square" lIns="73152" rIns="73152" tIns="73152" bIns="73152">
            <a:lstStyle/>
          </a:bodyPr>
          <a:p>
            <a:pPr algn="ctr" marL="0"/>
            <a:r>
              <a:rPr lang="en-US" sz="2000" b="1" i="0">
                <a:solidFill>
                  <a:srgbClr val="14213D"/>
                </a:solidFill>
                <a:latin typeface="Aptos"/>
              </a:rPr>
              <a:t>Some losses never trigger fast recovery.</a:t>
            </a:r>
            <a:endParaRPr lang="en-US" sz="2000"/>
          </a:p>
        </p:txBody>
      </p:sp>
      <p:sp>
        <p:nvSpPr>
          <p:cNvPr id="6" name="Text 6"/>
          <p:cNvSpPr/>
          <p:nvPr/>
        </p:nvSpPr>
        <p:spPr>
          <a:xfrm>
            <a:off x="1965960" y="2011680"/>
            <a:ext cx="64008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1</a:t>
            </a:r>
            <a:endParaRPr lang="en-US" sz="1600"/>
          </a:p>
        </p:txBody>
      </p:sp>
      <p:sp>
        <p:nvSpPr>
          <p:cNvPr id="7" name="Text 7"/>
          <p:cNvSpPr/>
          <p:nvPr/>
        </p:nvSpPr>
        <p:spPr>
          <a:xfrm>
            <a:off x="3108960" y="2011680"/>
            <a:ext cx="64008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2</a:t>
            </a:r>
            <a:endParaRPr lang="en-US" sz="1600"/>
          </a:p>
        </p:txBody>
      </p:sp>
      <p:sp>
        <p:nvSpPr>
          <p:cNvPr id="8" name="Text 8"/>
          <p:cNvSpPr/>
          <p:nvPr/>
        </p:nvSpPr>
        <p:spPr>
          <a:xfrm>
            <a:off x="4251960" y="2011680"/>
            <a:ext cx="64008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3</a:t>
            </a:r>
            <a:endParaRPr lang="en-US" sz="1600"/>
          </a:p>
        </p:txBody>
      </p:sp>
      <p:sp>
        <p:nvSpPr>
          <p:cNvPr id="9" name="Text 9"/>
          <p:cNvSpPr/>
          <p:nvPr/>
        </p:nvSpPr>
        <p:spPr>
          <a:xfrm>
            <a:off x="5394960" y="2011680"/>
            <a:ext cx="64008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4</a:t>
            </a:r>
            <a:endParaRPr lang="en-US" sz="1600"/>
          </a:p>
        </p:txBody>
      </p:sp>
      <p:sp>
        <p:nvSpPr>
          <p:cNvPr id="10" name="Text 10"/>
          <p:cNvSpPr/>
          <p:nvPr/>
        </p:nvSpPr>
        <p:spPr>
          <a:xfrm>
            <a:off x="6537960" y="2011680"/>
            <a:ext cx="640080" cy="59436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600" b="1" i="0">
                <a:solidFill>
                  <a:srgbClr val="18212F"/>
                </a:solidFill>
                <a:latin typeface="Aptos"/>
              </a:rPr>
              <a:t>5</a:t>
            </a:r>
            <a:endParaRPr lang="en-US" sz="1600"/>
          </a:p>
        </p:txBody>
      </p:sp>
      <p:sp>
        <p:nvSpPr>
          <p:cNvPr id="11" name="Text 11"/>
          <p:cNvSpPr/>
          <p:nvPr/>
        </p:nvSpPr>
        <p:spPr>
          <a:xfrm>
            <a:off x="5532120" y="2788920"/>
            <a:ext cx="1371600" cy="274320"/>
          </a:xfrm>
          <a:prstGeom prst="rect">
            <a:avLst/>
          </a:prstGeom>
          <a:noFill/>
          <a:ln>
            <a:noFill/>
          </a:ln>
        </p:spPr>
        <p:txBody>
          <a:bodyPr wrap="square" lIns="73152" rIns="73152" tIns="73152" bIns="73152">
            <a:lstStyle/>
          </a:bodyPr>
          <a:p>
            <a:pPr algn="ctr"/>
            <a:r>
              <a:rPr lang="en-US" sz="1500" b="1" i="0">
                <a:solidFill>
                  <a:srgbClr val="D95555"/>
                </a:solidFill>
                <a:latin typeface="Aptos"/>
              </a:rPr>
              <a:t>tail packet lost</a:t>
            </a:r>
            <a:endParaRPr lang="en-US" sz="1500"/>
          </a:p>
        </p:txBody>
      </p:sp>
      <p:sp>
        <p:nvSpPr>
          <p:cNvPr id="12" name="Text 12"/>
          <p:cNvSpPr/>
          <p:nvPr/>
        </p:nvSpPr>
        <p:spPr>
          <a:xfrm>
            <a:off x="4114800" y="3337560"/>
            <a:ext cx="4023360" cy="320040"/>
          </a:xfrm>
          <a:prstGeom prst="rect">
            <a:avLst/>
          </a:prstGeom>
          <a:noFill/>
          <a:ln>
            <a:noFill/>
          </a:ln>
        </p:spPr>
        <p:txBody>
          <a:bodyPr wrap="square" lIns="73152" rIns="73152" tIns="73152" bIns="73152">
            <a:lstStyle/>
          </a:bodyPr>
          <a:p>
            <a:pPr algn="ctr"/>
            <a:r>
              <a:rPr lang="en-US" sz="1700" b="1" i="0">
                <a:solidFill>
                  <a:srgbClr val="D95555"/>
                </a:solidFill>
                <a:latin typeface="Aptos"/>
              </a:rPr>
              <a:t>No later packet → no SACK trigger</a:t>
            </a:r>
            <a:endParaRPr lang="en-US" sz="1700"/>
          </a:p>
        </p:txBody>
      </p:sp>
      <p:sp>
        <p:nvSpPr>
          <p:cNvPr id="13" name="Text 13"/>
          <p:cNvSpPr/>
          <p:nvPr/>
        </p:nvSpPr>
        <p:spPr>
          <a:xfrm>
            <a:off x="4709160" y="4160520"/>
            <a:ext cx="2468880" cy="685800"/>
          </a:xfrm>
          <a:prstGeom prst="roundRect">
            <a:avLst/>
          </a:prstGeom>
          <a:solidFill>
            <a:srgbClr val="FFF4DD"/>
          </a:solidFill>
          <a:ln w="11430">
            <a:solidFill>
              <a:srgbClr val="F59E0B"/>
            </a:solidFill>
          </a:ln>
        </p:spPr>
        <p:txBody>
          <a:bodyPr wrap="square" lIns="91440" rIns="91440" tIns="91440" bIns="91440" anchor="ctr">
            <a:lstStyle/>
          </a:bodyPr>
          <a:p>
            <a:pPr algn="ctr" marL="0"/>
            <a:r>
              <a:rPr lang="en-US" sz="1800" b="1" i="0">
                <a:solidFill>
                  <a:srgbClr val="18212F"/>
                </a:solidFill>
                <a:latin typeface="Aptos"/>
              </a:rPr>
              <a:t>wait for RTO</a:t>
            </a:r>
            <a:endParaRPr lang="en-US" sz="1800"/>
          </a:p>
        </p:txBody>
      </p:sp>
      <p:sp>
        <p:nvSpPr>
          <p:cNvPr id="14" name="Line 14"/>
          <p:cNvSpPr/>
          <p:nvPr/>
        </p:nvSpPr>
        <p:spPr>
          <a:xfrm>
            <a:off x="5943600" y="3566160"/>
            <a:ext cx="0" cy="594359"/>
          </a:xfrm>
          <a:prstGeom prst="line">
            <a:avLst/>
          </a:prstGeom>
          <a:ln w="25400">
            <a:solidFill>
              <a:srgbClr val="F59E0B"/>
            </a:solidFill>
            <a:headEnd type="triangle" w="sm" len="sm"/>
          </a:ln>
        </p:spPr>
      </p:sp>
      <p:sp>
        <p:nvSpPr>
          <p:cNvPr id="15" name="Text 15"/>
          <p:cNvSpPr/>
          <p:nvPr/>
        </p:nvSpPr>
        <p:spPr>
          <a:xfrm>
            <a:off x="1143000" y="5257800"/>
            <a:ext cx="9875520" cy="457200"/>
          </a:xfrm>
          <a:prstGeom prst="rect">
            <a:avLst/>
          </a:prstGeom>
          <a:noFill/>
          <a:ln>
            <a:noFill/>
          </a:ln>
        </p:spPr>
        <p:txBody>
          <a:bodyPr wrap="square" lIns="73152" rIns="73152" tIns="73152" bIns="73152">
            <a:lstStyle/>
          </a:bodyPr>
          <a:p>
            <a:pPr algn="ctr"/>
            <a:r>
              <a:rPr lang="en-US" sz="1600" b="0" i="0">
                <a:solidFill>
                  <a:srgbClr val="18212F"/>
                </a:solidFill>
                <a:latin typeface="Aptos"/>
              </a:rPr>
              <a:t>Paper reports excessive IRN timeouts under background and incast traffic; DCP had none in that experiment.</a:t>
            </a:r>
            <a:endParaRPr lang="en-US" sz="1600"/>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DCP’s four design goals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0:30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§3</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11</a:t>
            </a:r>
            <a:endParaRPr lang="en-US" sz="900"/>
          </a:p>
        </p:txBody>
      </p:sp>
      <p:sp>
        <p:nvSpPr>
          <p:cNvPr id="5" name="Text 5"/>
          <p:cNvSpPr/>
          <p:nvPr/>
        </p:nvSpPr>
        <p:spPr>
          <a:xfrm>
            <a:off x="731520" y="1828800"/>
            <a:ext cx="2286000" cy="1234440"/>
          </a:xfrm>
          <a:prstGeom prst="roundRect">
            <a:avLst/>
          </a:prstGeom>
          <a:solidFill>
            <a:srgbClr val="EAF1FF"/>
          </a:solidFill>
          <a:ln w="11430">
            <a:solidFill>
              <a:srgbClr val="2F6FED"/>
            </a:solidFill>
          </a:ln>
        </p:spPr>
        <p:txBody>
          <a:bodyPr wrap="square" lIns="91440" rIns="91440" tIns="91440" bIns="91440" anchor="ctr">
            <a:lstStyle/>
          </a:bodyPr>
          <a:p>
            <a:pPr algn="ctr" marL="0"/>
            <a:r>
              <a:rPr lang="en-US" sz="1800" b="1" i="0">
                <a:solidFill>
                  <a:srgbClr val="18212F"/>
                </a:solidFill>
                <a:latin typeface="Aptos"/>
              </a:rPr>
              <a:t>R1</a:t>
            </a:r>
            <a:endParaRPr lang="en-US" sz="1800"/>
          </a:p>
          <a:p>
            <a:pPr algn="ctr"/>
            <a:r>
              <a:rPr lang="en-US" sz="1800" b="1" i="0">
                <a:solidFill>
                  <a:srgbClr val="18212F"/>
                </a:solidFill>
                <a:latin typeface="Aptos"/>
              </a:rPr>
              <a:t>independent of PFC</a:t>
            </a:r>
            <a:endParaRPr lang="en-US" sz="1800"/>
          </a:p>
        </p:txBody>
      </p:sp>
      <p:sp>
        <p:nvSpPr>
          <p:cNvPr id="6" name="Text 6"/>
          <p:cNvSpPr/>
          <p:nvPr/>
        </p:nvSpPr>
        <p:spPr>
          <a:xfrm>
            <a:off x="3547872" y="1828800"/>
            <a:ext cx="2286000" cy="1234440"/>
          </a:xfrm>
          <a:prstGeom prst="roundRect">
            <a:avLst/>
          </a:prstGeom>
          <a:solidFill>
            <a:srgbClr val="EAF7EF"/>
          </a:solidFill>
          <a:ln w="11430">
            <a:solidFill>
              <a:srgbClr val="2E9D70"/>
            </a:solidFill>
          </a:ln>
        </p:spPr>
        <p:txBody>
          <a:bodyPr wrap="square" lIns="91440" rIns="91440" tIns="91440" bIns="91440" anchor="ctr">
            <a:lstStyle/>
          </a:bodyPr>
          <a:p>
            <a:pPr algn="ctr" marL="0"/>
            <a:r>
              <a:rPr lang="en-US" sz="1800" b="1" i="0">
                <a:solidFill>
                  <a:srgbClr val="18212F"/>
                </a:solidFill>
                <a:latin typeface="Aptos"/>
              </a:rPr>
              <a:t>R2</a:t>
            </a:r>
            <a:endParaRPr lang="en-US" sz="1800"/>
          </a:p>
          <a:p>
            <a:pPr algn="ctr"/>
            <a:r>
              <a:rPr lang="en-US" sz="1800" b="1" i="0">
                <a:solidFill>
                  <a:srgbClr val="18212F"/>
                </a:solidFill>
                <a:latin typeface="Aptos"/>
              </a:rPr>
              <a:t>packet-level LB</a:t>
            </a:r>
            <a:endParaRPr lang="en-US" sz="1800"/>
          </a:p>
        </p:txBody>
      </p:sp>
      <p:sp>
        <p:nvSpPr>
          <p:cNvPr id="7" name="Text 7"/>
          <p:cNvSpPr/>
          <p:nvPr/>
        </p:nvSpPr>
        <p:spPr>
          <a:xfrm>
            <a:off x="6364224" y="1828800"/>
            <a:ext cx="2286000" cy="1234440"/>
          </a:xfrm>
          <a:prstGeom prst="roundRect">
            <a:avLst/>
          </a:prstGeom>
          <a:solidFill>
            <a:srgbClr val="FFF4DD"/>
          </a:solidFill>
          <a:ln w="11430">
            <a:solidFill>
              <a:srgbClr val="F59E0B"/>
            </a:solidFill>
          </a:ln>
        </p:spPr>
        <p:txBody>
          <a:bodyPr wrap="square" lIns="91440" rIns="91440" tIns="91440" bIns="91440" anchor="ctr">
            <a:lstStyle/>
          </a:bodyPr>
          <a:p>
            <a:pPr algn="ctr" marL="0"/>
            <a:r>
              <a:rPr lang="en-US" sz="1800" b="1" i="0">
                <a:solidFill>
                  <a:srgbClr val="18212F"/>
                </a:solidFill>
                <a:latin typeface="Aptos"/>
              </a:rPr>
              <a:t>R3</a:t>
            </a:r>
            <a:endParaRPr lang="en-US" sz="1800"/>
          </a:p>
          <a:p>
            <a:pPr algn="ctr"/>
            <a:r>
              <a:rPr lang="en-US" sz="1800" b="1" i="0">
                <a:solidFill>
                  <a:srgbClr val="18212F"/>
                </a:solidFill>
                <a:latin typeface="Aptos"/>
              </a:rPr>
              <a:t>fast loss recovery</a:t>
            </a:r>
            <a:endParaRPr lang="en-US" sz="1800"/>
          </a:p>
        </p:txBody>
      </p:sp>
      <p:sp>
        <p:nvSpPr>
          <p:cNvPr id="8" name="Text 8"/>
          <p:cNvSpPr/>
          <p:nvPr/>
        </p:nvSpPr>
        <p:spPr>
          <a:xfrm>
            <a:off x="9180576" y="1828800"/>
            <a:ext cx="2286000" cy="1234440"/>
          </a:xfrm>
          <a:prstGeom prst="roundRect">
            <a:avLst/>
          </a:prstGeom>
          <a:solidFill>
            <a:srgbClr val="E8FAFC"/>
          </a:solidFill>
          <a:ln w="11430">
            <a:solidFill>
              <a:srgbClr val="24B6C7"/>
            </a:solidFill>
          </a:ln>
        </p:spPr>
        <p:txBody>
          <a:bodyPr wrap="square" lIns="91440" rIns="91440" tIns="91440" bIns="91440" anchor="ctr">
            <a:lstStyle/>
          </a:bodyPr>
          <a:p>
            <a:pPr algn="ctr" marL="0"/>
            <a:r>
              <a:rPr lang="en-US" sz="1800" b="1" i="0">
                <a:solidFill>
                  <a:srgbClr val="18212F"/>
                </a:solidFill>
                <a:latin typeface="Aptos"/>
              </a:rPr>
              <a:t>R4</a:t>
            </a:r>
            <a:endParaRPr lang="en-US" sz="1800"/>
          </a:p>
          <a:p>
            <a:pPr algn="ctr"/>
            <a:r>
              <a:rPr lang="en-US" sz="1800" b="1" i="0">
                <a:solidFill>
                  <a:srgbClr val="18212F"/>
                </a:solidFill>
                <a:latin typeface="Aptos"/>
              </a:rPr>
              <a:t>hardware-oriented</a:t>
            </a:r>
            <a:endParaRPr lang="en-US" sz="1800"/>
          </a:p>
        </p:txBody>
      </p:sp>
      <p:sp>
        <p:nvSpPr>
          <p:cNvPr id="9" name="Text 9"/>
          <p:cNvSpPr/>
          <p:nvPr/>
        </p:nvSpPr>
        <p:spPr>
          <a:xfrm>
            <a:off x="1280160" y="4251960"/>
            <a:ext cx="9509760" cy="411480"/>
          </a:xfrm>
          <a:prstGeom prst="rect">
            <a:avLst/>
          </a:prstGeom>
          <a:noFill/>
          <a:ln>
            <a:noFill/>
          </a:ln>
        </p:spPr>
        <p:txBody>
          <a:bodyPr wrap="square" lIns="73152" rIns="73152" tIns="73152" bIns="73152">
            <a:lstStyle/>
          </a:bodyPr>
          <a:p>
            <a:pPr algn="ctr" marL="0"/>
            <a:r>
              <a:rPr lang="en-US" sz="2000" b="1" i="0">
                <a:solidFill>
                  <a:srgbClr val="14213D"/>
                </a:solidFill>
                <a:latin typeface="Aptos"/>
              </a:rPr>
              <a:t>DCP co-designs DCP-Switch and DCP-RNIC to meet all four.</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DCP-Switch: lossy data plane, protected HO path</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1:25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§§4.1–4.2; DCP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12</a:t>
            </a:r>
            <a:endParaRPr lang="en-US" sz="900"/>
          </a:p>
        </p:txBody>
      </p:sp>
      <p:sp>
        <p:nvSpPr>
          <p:cNvPr id="5" name="Text 5"/>
          <p:cNvSpPr/>
          <p:nvPr/>
        </p:nvSpPr>
        <p:spPr>
          <a:xfrm>
            <a:off x="594360" y="1920240"/>
            <a:ext cx="2103120" cy="8229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600" b="1" i="0">
                <a:solidFill>
                  <a:srgbClr val="18212F"/>
                </a:solidFill>
                <a:latin typeface="Aptos"/>
              </a:rPr>
              <a:t>DCP data packet</a:t>
            </a:r>
            <a:endParaRPr lang="en-US" sz="1600"/>
          </a:p>
          <a:p>
            <a:pPr algn="ctr"/>
            <a:r>
              <a:rPr lang="en-US" sz="1600" b="1" i="0">
                <a:solidFill>
                  <a:srgbClr val="18212F"/>
                </a:solidFill>
                <a:latin typeface="Aptos"/>
              </a:rPr>
              <a:t>header + payload</a:t>
            </a:r>
            <a:endParaRPr lang="en-US" sz="1600"/>
          </a:p>
        </p:txBody>
      </p:sp>
      <p:sp>
        <p:nvSpPr>
          <p:cNvPr id="6" name="Text 6"/>
          <p:cNvSpPr/>
          <p:nvPr/>
        </p:nvSpPr>
        <p:spPr>
          <a:xfrm>
            <a:off x="3474720" y="1920240"/>
            <a:ext cx="2103120" cy="82296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600" b="1" i="0">
                <a:solidFill>
                  <a:srgbClr val="18212F"/>
                </a:solidFill>
                <a:latin typeface="Aptos"/>
              </a:rPr>
              <a:t>DCP-Switch</a:t>
            </a:r>
            <a:endParaRPr lang="en-US" sz="1600"/>
          </a:p>
          <a:p>
            <a:pPr algn="ctr"/>
            <a:r>
              <a:rPr lang="en-US" sz="1600" b="1" i="0">
                <a:solidFill>
                  <a:srgbClr val="18212F"/>
                </a:solidFill>
                <a:latin typeface="Aptos"/>
              </a:rPr>
              <a:t>queue threshold</a:t>
            </a:r>
            <a:endParaRPr lang="en-US" sz="1600"/>
          </a:p>
        </p:txBody>
      </p:sp>
      <p:sp>
        <p:nvSpPr>
          <p:cNvPr id="7" name="Text 7"/>
          <p:cNvSpPr/>
          <p:nvPr/>
        </p:nvSpPr>
        <p:spPr>
          <a:xfrm>
            <a:off x="6400800" y="1143000"/>
            <a:ext cx="192024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Data queue</a:t>
            </a:r>
            <a:endParaRPr lang="en-US" sz="1500"/>
          </a:p>
          <a:p>
            <a:pPr algn="ctr"/>
            <a:r>
              <a:rPr lang="en-US" sz="1500" b="1" i="0">
                <a:solidFill>
                  <a:srgbClr val="18212F"/>
                </a:solidFill>
                <a:latin typeface="Aptos"/>
              </a:rPr>
              <a:t>full packet</a:t>
            </a:r>
            <a:endParaRPr lang="en-US" sz="1500"/>
          </a:p>
        </p:txBody>
      </p:sp>
      <p:sp>
        <p:nvSpPr>
          <p:cNvPr id="8" name="Text 8"/>
          <p:cNvSpPr/>
          <p:nvPr/>
        </p:nvSpPr>
        <p:spPr>
          <a:xfrm>
            <a:off x="6400800" y="2926080"/>
            <a:ext cx="1920240" cy="73152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500" b="1" i="0">
                <a:solidFill>
                  <a:srgbClr val="18212F"/>
                </a:solidFill>
                <a:latin typeface="Aptos"/>
              </a:rPr>
              <a:t>Control queue</a:t>
            </a:r>
            <a:endParaRPr lang="en-US" sz="1500"/>
          </a:p>
          <a:p>
            <a:pPr algn="ctr"/>
            <a:r>
              <a:rPr lang="en-US" sz="1500" b="1" i="0">
                <a:solidFill>
                  <a:srgbClr val="18212F"/>
                </a:solidFill>
                <a:latin typeface="Aptos"/>
              </a:rPr>
              <a:t>57-byte HO</a:t>
            </a:r>
            <a:endParaRPr lang="en-US" sz="1500"/>
          </a:p>
        </p:txBody>
      </p:sp>
      <p:sp>
        <p:nvSpPr>
          <p:cNvPr id="9" name="Text 9"/>
          <p:cNvSpPr/>
          <p:nvPr/>
        </p:nvSpPr>
        <p:spPr>
          <a:xfrm>
            <a:off x="9326880" y="2926080"/>
            <a:ext cx="164592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Receiver</a:t>
            </a:r>
            <a:endParaRPr lang="en-US" sz="1500"/>
          </a:p>
          <a:p>
            <a:pPr algn="ctr"/>
            <a:r>
              <a:rPr lang="en-US" sz="1500" b="1" i="0">
                <a:solidFill>
                  <a:srgbClr val="18212F"/>
                </a:solidFill>
                <a:latin typeface="Aptos"/>
              </a:rPr>
              <a:t>RNIC</a:t>
            </a:r>
            <a:endParaRPr lang="en-US" sz="1500"/>
          </a:p>
        </p:txBody>
      </p:sp>
      <p:sp>
        <p:nvSpPr>
          <p:cNvPr id="10" name="Line 10"/>
          <p:cNvSpPr/>
          <p:nvPr/>
        </p:nvSpPr>
        <p:spPr>
          <a:xfrm>
            <a:off x="2697480" y="2331720"/>
            <a:ext cx="777239" cy="0"/>
          </a:xfrm>
          <a:prstGeom prst="line">
            <a:avLst/>
          </a:prstGeom>
          <a:ln w="25400">
            <a:solidFill>
              <a:srgbClr val="2F6FED"/>
            </a:solidFill>
            <a:headEnd type="triangle" w="sm" len="sm"/>
          </a:ln>
        </p:spPr>
      </p:sp>
      <p:sp>
        <p:nvSpPr>
          <p:cNvPr id="11" name="Line 11"/>
          <p:cNvSpPr/>
          <p:nvPr/>
        </p:nvSpPr>
        <p:spPr>
          <a:xfrm>
            <a:off x="5577840" y="2331720"/>
            <a:ext cx="822960" cy="-822959"/>
          </a:xfrm>
          <a:prstGeom prst="line">
            <a:avLst/>
          </a:prstGeom>
          <a:ln w="25400">
            <a:solidFill>
              <a:srgbClr val="2F6FED"/>
            </a:solidFill>
            <a:headEnd type="triangle" w="sm" len="sm"/>
          </a:ln>
        </p:spPr>
      </p:sp>
      <p:sp>
        <p:nvSpPr>
          <p:cNvPr id="12" name="Line 12"/>
          <p:cNvSpPr/>
          <p:nvPr/>
        </p:nvSpPr>
        <p:spPr>
          <a:xfrm>
            <a:off x="5577840" y="2331720"/>
            <a:ext cx="822960" cy="960120"/>
          </a:xfrm>
          <a:prstGeom prst="line">
            <a:avLst/>
          </a:prstGeom>
          <a:ln w="25400">
            <a:solidFill>
              <a:srgbClr val="24B6C7"/>
            </a:solidFill>
            <a:headEnd type="triangle" w="sm" len="sm"/>
          </a:ln>
        </p:spPr>
      </p:sp>
      <p:sp>
        <p:nvSpPr>
          <p:cNvPr id="13" name="Line 13"/>
          <p:cNvSpPr/>
          <p:nvPr/>
        </p:nvSpPr>
        <p:spPr>
          <a:xfrm>
            <a:off x="8321040" y="3291840"/>
            <a:ext cx="1005839" cy="0"/>
          </a:xfrm>
          <a:prstGeom prst="line">
            <a:avLst/>
          </a:prstGeom>
          <a:ln w="25400">
            <a:solidFill>
              <a:srgbClr val="24B6C7"/>
            </a:solidFill>
            <a:headEnd type="triangle" w="sm" len="sm"/>
          </a:ln>
        </p:spPr>
      </p:sp>
      <p:sp>
        <p:nvSpPr>
          <p:cNvPr id="14" name="Text 14"/>
          <p:cNvSpPr/>
          <p:nvPr/>
        </p:nvSpPr>
        <p:spPr>
          <a:xfrm>
            <a:off x="6400800" y="4160520"/>
            <a:ext cx="4114800" cy="594360"/>
          </a:xfrm>
          <a:prstGeom prst="rect">
            <a:avLst/>
          </a:prstGeom>
          <a:noFill/>
          <a:ln>
            <a:noFill/>
          </a:ln>
        </p:spPr>
        <p:txBody>
          <a:bodyPr wrap="square" lIns="73152" rIns="73152" tIns="73152" bIns="73152">
            <a:lstStyle/>
          </a:bodyPr>
          <a:p>
            <a:pPr algn="ctr"/>
            <a:r>
              <a:rPr lang="en-US" sz="1500" b="0" i="0">
                <a:solidFill>
                  <a:srgbClr val="176B4C"/>
                </a:solidFill>
                <a:latin typeface="Aptos"/>
              </a:rPr>
              <a:t>weighted round-robin prioritizes HO</a:t>
            </a:r>
            <a:endParaRPr lang="en-US" sz="1500"/>
          </a:p>
          <a:p>
            <a:pPr algn="ctr"/>
            <a:r>
              <a:rPr lang="en-US" sz="1500" b="0" i="0">
                <a:solidFill>
                  <a:srgbClr val="176B4C"/>
                </a:solidFill>
                <a:latin typeface="Aptos"/>
              </a:rPr>
              <a:t>while avoiding data starvation</a:t>
            </a:r>
            <a:endParaRPr lang="en-US" sz="1500"/>
          </a:p>
        </p:txBody>
      </p:sp>
      <p:sp>
        <p:nvSpPr>
          <p:cNvPr id="15" name="Text 15"/>
          <p:cNvSpPr/>
          <p:nvPr/>
        </p:nvSpPr>
        <p:spPr>
          <a:xfrm>
            <a:off x="1097280" y="5303520"/>
            <a:ext cx="9966960" cy="320040"/>
          </a:xfrm>
          <a:prstGeom prst="rect">
            <a:avLst/>
          </a:prstGeom>
          <a:noFill/>
          <a:ln>
            <a:noFill/>
          </a:ln>
        </p:spPr>
        <p:txBody>
          <a:bodyPr wrap="square" lIns="73152" rIns="73152" tIns="73152" bIns="73152">
            <a:lstStyle/>
          </a:bodyPr>
          <a:p>
            <a:pPr algn="ctr"/>
            <a:r>
              <a:rPr lang="en-US" sz="1700" b="1" i="0">
                <a:solidFill>
                  <a:srgbClr val="14213D"/>
                </a:solidFill>
                <a:latin typeface="Aptos"/>
              </a:rPr>
              <a:t>Under congestion: trim payload, keep header + PSN, mark HO</a:t>
            </a:r>
            <a:endParaRPr lang="en-US" sz="1700"/>
          </a:p>
        </p:txBody>
      </p:sp>
    </p:spTree>
  </p:cSld>
  <p:clrMapOvr>
    <a:masterClrMapping/>
  </p:clrMapOvr>
</p:sld>
</file>

<file path=ppt/slides/slide13.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HO-based precise retransmission</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1:10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§§4.1, 4.3; DCP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13</a:t>
            </a:r>
            <a:endParaRPr lang="en-US" sz="900"/>
          </a:p>
        </p:txBody>
      </p:sp>
      <p:sp>
        <p:nvSpPr>
          <p:cNvPr id="5" name="Text 5"/>
          <p:cNvSpPr/>
          <p:nvPr/>
        </p:nvSpPr>
        <p:spPr>
          <a:xfrm>
            <a:off x="502920" y="1828800"/>
            <a:ext cx="1783080" cy="109728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500" b="1" i="0">
                <a:solidFill>
                  <a:srgbClr val="18212F"/>
                </a:solidFill>
                <a:latin typeface="Aptos"/>
              </a:rPr>
              <a:t>1</a:t>
            </a:r>
            <a:endParaRPr lang="en-US" sz="1500"/>
          </a:p>
          <a:p>
            <a:pPr algn="ctr"/>
            <a:r>
              <a:rPr lang="en-US" sz="1500" b="1" i="0">
                <a:solidFill>
                  <a:srgbClr val="18212F"/>
                </a:solidFill>
                <a:latin typeface="Aptos"/>
              </a:rPr>
              <a:t>Switch trims</a:t>
            </a:r>
            <a:endParaRPr lang="en-US" sz="1500"/>
          </a:p>
          <a:p>
            <a:pPr algn="ctr"/>
            <a:r>
              <a:rPr lang="en-US" sz="1500" b="1" i="0">
                <a:solidFill>
                  <a:srgbClr val="18212F"/>
                </a:solidFill>
                <a:latin typeface="Aptos"/>
              </a:rPr>
              <a:t>packet P2</a:t>
            </a:r>
            <a:endParaRPr lang="en-US" sz="1500"/>
          </a:p>
        </p:txBody>
      </p:sp>
      <p:sp>
        <p:nvSpPr>
          <p:cNvPr id="6" name="Line 6"/>
          <p:cNvSpPr/>
          <p:nvPr/>
        </p:nvSpPr>
        <p:spPr>
          <a:xfrm>
            <a:off x="2286000" y="2377440"/>
            <a:ext cx="521208" cy="0"/>
          </a:xfrm>
          <a:prstGeom prst="line">
            <a:avLst/>
          </a:prstGeom>
          <a:ln w="22860">
            <a:solidFill>
              <a:srgbClr val="D9E1EF"/>
            </a:solidFill>
            <a:headEnd type="triangle" w="sm" len="sm"/>
          </a:ln>
        </p:spPr>
      </p:sp>
      <p:sp>
        <p:nvSpPr>
          <p:cNvPr id="7" name="Text 7"/>
          <p:cNvSpPr/>
          <p:nvPr/>
        </p:nvSpPr>
        <p:spPr>
          <a:xfrm>
            <a:off x="2807208" y="1828800"/>
            <a:ext cx="1783080" cy="109728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500" b="1" i="0">
                <a:solidFill>
                  <a:srgbClr val="18212F"/>
                </a:solidFill>
                <a:latin typeface="Aptos"/>
              </a:rPr>
              <a:t>2</a:t>
            </a:r>
            <a:endParaRPr lang="en-US" sz="1500"/>
          </a:p>
          <a:p>
            <a:pPr algn="ctr"/>
            <a:r>
              <a:rPr lang="en-US" sz="1500" b="1" i="0">
                <a:solidFill>
                  <a:srgbClr val="18212F"/>
                </a:solidFill>
                <a:latin typeface="Aptos"/>
              </a:rPr>
              <a:t>Receiver gets</a:t>
            </a:r>
            <a:endParaRPr lang="en-US" sz="1500"/>
          </a:p>
          <a:p>
            <a:pPr algn="ctr"/>
            <a:r>
              <a:rPr lang="en-US" sz="1500" b="1" i="0">
                <a:solidFill>
                  <a:srgbClr val="18212F"/>
                </a:solidFill>
                <a:latin typeface="Aptos"/>
              </a:rPr>
              <a:t>HO(P2)</a:t>
            </a:r>
            <a:endParaRPr lang="en-US" sz="1500"/>
          </a:p>
        </p:txBody>
      </p:sp>
      <p:sp>
        <p:nvSpPr>
          <p:cNvPr id="8" name="Line 8"/>
          <p:cNvSpPr/>
          <p:nvPr/>
        </p:nvSpPr>
        <p:spPr>
          <a:xfrm>
            <a:off x="4590288" y="2377440"/>
            <a:ext cx="521207" cy="0"/>
          </a:xfrm>
          <a:prstGeom prst="line">
            <a:avLst/>
          </a:prstGeom>
          <a:ln w="22860">
            <a:solidFill>
              <a:srgbClr val="D9E1EF"/>
            </a:solidFill>
            <a:headEnd type="triangle" w="sm" len="sm"/>
          </a:ln>
        </p:spPr>
      </p:sp>
      <p:sp>
        <p:nvSpPr>
          <p:cNvPr id="9" name="Text 9"/>
          <p:cNvSpPr/>
          <p:nvPr/>
        </p:nvSpPr>
        <p:spPr>
          <a:xfrm>
            <a:off x="5111496" y="1828800"/>
            <a:ext cx="1783080" cy="109728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500" b="1" i="0">
                <a:solidFill>
                  <a:srgbClr val="18212F"/>
                </a:solidFill>
                <a:latin typeface="Aptos"/>
              </a:rPr>
              <a:t>3</a:t>
            </a:r>
            <a:endParaRPr lang="en-US" sz="1500"/>
          </a:p>
          <a:p>
            <a:pPr algn="ctr"/>
            <a:r>
              <a:rPr lang="en-US" sz="1500" b="1" i="0">
                <a:solidFill>
                  <a:srgbClr val="18212F"/>
                </a:solidFill>
                <a:latin typeface="Aptos"/>
              </a:rPr>
              <a:t>Receiver swaps</a:t>
            </a:r>
            <a:endParaRPr lang="en-US" sz="1500"/>
          </a:p>
          <a:p>
            <a:pPr algn="ctr"/>
            <a:r>
              <a:rPr lang="en-US" sz="1500" b="1" i="0">
                <a:solidFill>
                  <a:srgbClr val="18212F"/>
                </a:solidFill>
                <a:latin typeface="Aptos"/>
              </a:rPr>
              <a:t>address fields</a:t>
            </a:r>
            <a:endParaRPr lang="en-US" sz="1500"/>
          </a:p>
        </p:txBody>
      </p:sp>
      <p:sp>
        <p:nvSpPr>
          <p:cNvPr id="10" name="Line 10"/>
          <p:cNvSpPr/>
          <p:nvPr/>
        </p:nvSpPr>
        <p:spPr>
          <a:xfrm>
            <a:off x="6894576" y="2377440"/>
            <a:ext cx="521207" cy="0"/>
          </a:xfrm>
          <a:prstGeom prst="line">
            <a:avLst/>
          </a:prstGeom>
          <a:ln w="22860">
            <a:solidFill>
              <a:srgbClr val="D9E1EF"/>
            </a:solidFill>
            <a:headEnd type="triangle" w="sm" len="sm"/>
          </a:ln>
        </p:spPr>
      </p:sp>
      <p:sp>
        <p:nvSpPr>
          <p:cNvPr id="11" name="Text 11"/>
          <p:cNvSpPr/>
          <p:nvPr/>
        </p:nvSpPr>
        <p:spPr>
          <a:xfrm>
            <a:off x="7415784" y="1828800"/>
            <a:ext cx="1783080" cy="1097280"/>
          </a:xfrm>
          <a:prstGeom prst="roundRect">
            <a:avLst/>
          </a:prstGeom>
          <a:solidFill>
            <a:srgbClr val="EAF7EF"/>
          </a:solidFill>
          <a:ln w="11430">
            <a:solidFill>
              <a:srgbClr val="2E9D70"/>
            </a:solidFill>
          </a:ln>
        </p:spPr>
        <p:txBody>
          <a:bodyPr wrap="square" lIns="91440" rIns="91440" tIns="91440" bIns="91440" anchor="ctr">
            <a:lstStyle/>
          </a:bodyPr>
          <a:p>
            <a:pPr algn="ctr"/>
            <a:r>
              <a:rPr lang="en-US" sz="1500" b="1" i="0">
                <a:solidFill>
                  <a:srgbClr val="18212F"/>
                </a:solidFill>
                <a:latin typeface="Aptos"/>
              </a:rPr>
              <a:t>4</a:t>
            </a:r>
            <a:endParaRPr lang="en-US" sz="1500"/>
          </a:p>
          <a:p>
            <a:pPr algn="ctr"/>
            <a:r>
              <a:rPr lang="en-US" sz="1500" b="1" i="0">
                <a:solidFill>
                  <a:srgbClr val="18212F"/>
                </a:solidFill>
                <a:latin typeface="Aptos"/>
              </a:rPr>
              <a:t>Sender sees</a:t>
            </a:r>
            <a:endParaRPr lang="en-US" sz="1500"/>
          </a:p>
          <a:p>
            <a:pPr algn="ctr"/>
            <a:r>
              <a:rPr lang="en-US" sz="1500" b="1" i="0">
                <a:solidFill>
                  <a:srgbClr val="18212F"/>
                </a:solidFill>
                <a:latin typeface="Aptos"/>
              </a:rPr>
              <a:t>PSN 2</a:t>
            </a:r>
            <a:endParaRPr lang="en-US" sz="1500"/>
          </a:p>
        </p:txBody>
      </p:sp>
      <p:sp>
        <p:nvSpPr>
          <p:cNvPr id="12" name="Line 12"/>
          <p:cNvSpPr/>
          <p:nvPr/>
        </p:nvSpPr>
        <p:spPr>
          <a:xfrm>
            <a:off x="9198864" y="2377440"/>
            <a:ext cx="521208" cy="0"/>
          </a:xfrm>
          <a:prstGeom prst="line">
            <a:avLst/>
          </a:prstGeom>
          <a:ln w="22860">
            <a:solidFill>
              <a:srgbClr val="D9E1EF"/>
            </a:solidFill>
            <a:headEnd type="triangle" w="sm" len="sm"/>
          </a:ln>
        </p:spPr>
      </p:sp>
      <p:sp>
        <p:nvSpPr>
          <p:cNvPr id="13" name="Text 13"/>
          <p:cNvSpPr/>
          <p:nvPr/>
        </p:nvSpPr>
        <p:spPr>
          <a:xfrm>
            <a:off x="9720072" y="1828800"/>
            <a:ext cx="1783080" cy="109728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500" b="1" i="0">
                <a:solidFill>
                  <a:srgbClr val="18212F"/>
                </a:solidFill>
                <a:latin typeface="Aptos"/>
              </a:rPr>
              <a:t>5</a:t>
            </a:r>
            <a:endParaRPr lang="en-US" sz="1500"/>
          </a:p>
          <a:p>
            <a:pPr algn="ctr"/>
            <a:r>
              <a:rPr lang="en-US" sz="1500" b="1" i="0">
                <a:solidFill>
                  <a:srgbClr val="18212F"/>
                </a:solidFill>
                <a:latin typeface="Aptos"/>
              </a:rPr>
              <a:t>Retransmit</a:t>
            </a:r>
            <a:endParaRPr lang="en-US" sz="1500"/>
          </a:p>
          <a:p>
            <a:pPr algn="ctr"/>
            <a:r>
              <a:rPr lang="en-US" sz="1500" b="1" i="0">
                <a:solidFill>
                  <a:srgbClr val="18212F"/>
                </a:solidFill>
                <a:latin typeface="Aptos"/>
              </a:rPr>
              <a:t>P2 payload</a:t>
            </a:r>
            <a:endParaRPr lang="en-US" sz="1500"/>
          </a:p>
        </p:txBody>
      </p:sp>
      <p:sp>
        <p:nvSpPr>
          <p:cNvPr id="14" name="Text 14"/>
          <p:cNvSpPr/>
          <p:nvPr/>
        </p:nvSpPr>
        <p:spPr>
          <a:xfrm>
            <a:off x="1188720" y="3886200"/>
            <a:ext cx="9692640" cy="365760"/>
          </a:xfrm>
          <a:prstGeom prst="rect">
            <a:avLst/>
          </a:prstGeom>
          <a:noFill/>
          <a:ln>
            <a:noFill/>
          </a:ln>
        </p:spPr>
        <p:txBody>
          <a:bodyPr wrap="square" lIns="73152" rIns="73152" tIns="73152" bIns="73152">
            <a:lstStyle/>
          </a:bodyPr>
          <a:p>
            <a:pPr algn="ctr" marL="0"/>
            <a:r>
              <a:rPr lang="en-US" sz="1900" b="1" i="0">
                <a:solidFill>
                  <a:srgbClr val="14213D"/>
                </a:solidFill>
                <a:latin typeface="Aptos"/>
              </a:rPr>
              <a:t>HO(P2) is a loss notification, not a replacement for P2’s data.</a:t>
            </a:r>
            <a:endParaRPr lang="en-US" sz="1900"/>
          </a:p>
        </p:txBody>
      </p:sp>
      <p:sp>
        <p:nvSpPr>
          <p:cNvPr id="15" name="Text 15"/>
          <p:cNvSpPr/>
          <p:nvPr/>
        </p:nvSpPr>
        <p:spPr>
          <a:xfrm>
            <a:off x="1143000" y="4800600"/>
            <a:ext cx="9875520" cy="594360"/>
          </a:xfrm>
          <a:prstGeom prst="rect">
            <a:avLst/>
          </a:prstGeom>
          <a:noFill/>
          <a:ln>
            <a:noFill/>
          </a:ln>
        </p:spPr>
        <p:txBody>
          <a:bodyPr wrap="square" lIns="73152" rIns="73152" tIns="73152" bIns="73152">
            <a:lstStyle/>
          </a:bodyPr>
          <a:p>
            <a:pPr algn="ctr"/>
            <a:r>
              <a:rPr lang="en-US" sz="1500" b="0" i="0">
                <a:solidFill>
                  <a:srgbClr val="18212F"/>
                </a:solidFill>
                <a:latin typeface="Aptos"/>
              </a:rPr>
              <a:t>Retransmission queue + batched host-memory fetches reduce PCIe overhead and let congestion control regulate recovery rate.</a:t>
            </a:r>
            <a:endParaRPr lang="en-US" sz="1500"/>
          </a:p>
        </p:txBody>
      </p:sp>
    </p:spTree>
  </p:cSld>
  <p:clrMapOvr>
    <a:masterClrMapping/>
  </p:clrMapOvr>
</p:sld>
</file>

<file path=ppt/slides/slide14.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Order-tolerant reception and bitmap-free tracking</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1:25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§§4.4–4.5; DCP Table 3</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14</a:t>
            </a:r>
            <a:endParaRPr lang="en-US" sz="900"/>
          </a:p>
        </p:txBody>
      </p:sp>
      <p:sp>
        <p:nvSpPr>
          <p:cNvPr id="5" name="Text 5"/>
          <p:cNvSpPr/>
          <p:nvPr/>
        </p:nvSpPr>
        <p:spPr>
          <a:xfrm>
            <a:off x="594360" y="1417320"/>
            <a:ext cx="2011680" cy="73152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600" b="1" i="0">
                <a:solidFill>
                  <a:srgbClr val="18212F"/>
                </a:solidFill>
                <a:latin typeface="Aptos"/>
              </a:rPr>
              <a:t>Out-of-order packets</a:t>
            </a:r>
            <a:endParaRPr lang="en-US" sz="1600"/>
          </a:p>
        </p:txBody>
      </p:sp>
      <p:sp>
        <p:nvSpPr>
          <p:cNvPr id="6" name="Text 6"/>
          <p:cNvSpPr/>
          <p:nvPr/>
        </p:nvSpPr>
        <p:spPr>
          <a:xfrm>
            <a:off x="3108960" y="1554480"/>
            <a:ext cx="822960" cy="4572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200" b="1" i="0">
                <a:solidFill>
                  <a:srgbClr val="18212F"/>
                </a:solidFill>
                <a:latin typeface="Aptos"/>
              </a:rPr>
              <a:t>PSN 1</a:t>
            </a:r>
            <a:endParaRPr lang="en-US" sz="1200"/>
          </a:p>
        </p:txBody>
      </p:sp>
      <p:sp>
        <p:nvSpPr>
          <p:cNvPr id="7" name="Text 7"/>
          <p:cNvSpPr/>
          <p:nvPr/>
        </p:nvSpPr>
        <p:spPr>
          <a:xfrm>
            <a:off x="4251960" y="1554480"/>
            <a:ext cx="822960" cy="4572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200" b="1" i="0">
                <a:solidFill>
                  <a:srgbClr val="18212F"/>
                </a:solidFill>
                <a:latin typeface="Aptos"/>
              </a:rPr>
              <a:t>PSN 3</a:t>
            </a:r>
            <a:endParaRPr lang="en-US" sz="1200"/>
          </a:p>
        </p:txBody>
      </p:sp>
      <p:sp>
        <p:nvSpPr>
          <p:cNvPr id="8" name="Text 8"/>
          <p:cNvSpPr/>
          <p:nvPr/>
        </p:nvSpPr>
        <p:spPr>
          <a:xfrm>
            <a:off x="5394960" y="1554480"/>
            <a:ext cx="822960" cy="4572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200" b="1" i="0">
                <a:solidFill>
                  <a:srgbClr val="18212F"/>
                </a:solidFill>
                <a:latin typeface="Aptos"/>
              </a:rPr>
              <a:t>PSN 2</a:t>
            </a:r>
            <a:endParaRPr lang="en-US" sz="1200"/>
          </a:p>
        </p:txBody>
      </p:sp>
      <p:sp>
        <p:nvSpPr>
          <p:cNvPr id="9" name="Text 9"/>
          <p:cNvSpPr/>
          <p:nvPr/>
        </p:nvSpPr>
        <p:spPr>
          <a:xfrm>
            <a:off x="6949440" y="1417320"/>
            <a:ext cx="1828800" cy="73152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600" b="1" i="0">
                <a:solidFill>
                  <a:srgbClr val="18212F"/>
                </a:solidFill>
                <a:latin typeface="Aptos"/>
              </a:rPr>
              <a:t>Direct memory</a:t>
            </a:r>
            <a:endParaRPr lang="en-US" sz="1600"/>
          </a:p>
          <a:p>
            <a:pPr algn="ctr"/>
            <a:r>
              <a:rPr lang="en-US" sz="1600" b="1" i="0">
                <a:solidFill>
                  <a:srgbClr val="18212F"/>
                </a:solidFill>
                <a:latin typeface="Aptos"/>
              </a:rPr>
              <a:t>slots</a:t>
            </a:r>
            <a:endParaRPr lang="en-US" sz="1600"/>
          </a:p>
        </p:txBody>
      </p:sp>
      <p:sp>
        <p:nvSpPr>
          <p:cNvPr id="10" name="Line 10"/>
          <p:cNvSpPr/>
          <p:nvPr/>
        </p:nvSpPr>
        <p:spPr>
          <a:xfrm>
            <a:off x="2606040" y="1783080"/>
            <a:ext cx="457200" cy="0"/>
          </a:xfrm>
          <a:prstGeom prst="line">
            <a:avLst/>
          </a:prstGeom>
          <a:ln w="25400">
            <a:solidFill>
              <a:srgbClr val="F59E0B"/>
            </a:solidFill>
            <a:headEnd type="triangle" w="sm" len="sm"/>
          </a:ln>
        </p:spPr>
      </p:sp>
      <p:sp>
        <p:nvSpPr>
          <p:cNvPr id="11" name="Line 11"/>
          <p:cNvSpPr/>
          <p:nvPr/>
        </p:nvSpPr>
        <p:spPr>
          <a:xfrm>
            <a:off x="6537960" y="1783080"/>
            <a:ext cx="411479" cy="0"/>
          </a:xfrm>
          <a:prstGeom prst="line">
            <a:avLst/>
          </a:prstGeom>
          <a:ln w="25400">
            <a:solidFill>
              <a:srgbClr val="24B6C7"/>
            </a:solidFill>
            <a:headEnd type="triangle" w="sm" len="sm"/>
          </a:ln>
        </p:spPr>
      </p:sp>
      <p:sp>
        <p:nvSpPr>
          <p:cNvPr id="12" name="Text 12"/>
          <p:cNvSpPr/>
          <p:nvPr/>
        </p:nvSpPr>
        <p:spPr>
          <a:xfrm>
            <a:off x="9098280" y="1554480"/>
            <a:ext cx="2194560" cy="411480"/>
          </a:xfrm>
          <a:prstGeom prst="rect">
            <a:avLst/>
          </a:prstGeom>
          <a:noFill/>
          <a:ln>
            <a:noFill/>
          </a:ln>
        </p:spPr>
        <p:txBody>
          <a:bodyPr wrap="square" lIns="73152" rIns="73152" tIns="73152" bIns="73152">
            <a:lstStyle/>
          </a:bodyPr>
          <a:p>
            <a:pPr algn="ctr"/>
            <a:r>
              <a:rPr lang="en-US" sz="1400" b="1" i="0">
                <a:solidFill>
                  <a:srgbClr val="176B4C"/>
                </a:solidFill>
                <a:latin typeface="Aptos"/>
              </a:rPr>
              <a:t>No large reorder buffer</a:t>
            </a:r>
            <a:endParaRPr lang="en-US" sz="1400"/>
          </a:p>
        </p:txBody>
      </p:sp>
      <p:sp>
        <p:nvSpPr>
          <p:cNvPr id="13" name="Text 13"/>
          <p:cNvSpPr/>
          <p:nvPr/>
        </p:nvSpPr>
        <p:spPr>
          <a:xfrm>
            <a:off x="731520" y="3794760"/>
            <a:ext cx="1554480" cy="274320"/>
          </a:xfrm>
          <a:prstGeom prst="rect">
            <a:avLst/>
          </a:prstGeom>
          <a:noFill/>
          <a:ln>
            <a:noFill/>
          </a:ln>
        </p:spPr>
        <p:txBody>
          <a:bodyPr wrap="square" lIns="73152" rIns="73152" tIns="73152" bIns="73152">
            <a:lstStyle/>
          </a:bodyPr>
          <a:p>
            <a:pPr algn="l"/>
            <a:r>
              <a:rPr lang="en-US" sz="1500" b="1" i="0">
                <a:solidFill>
                  <a:srgbClr val="14213D"/>
                </a:solidFill>
                <a:latin typeface="Aptos"/>
              </a:rPr>
              <a:t>Message MSN 7</a:t>
            </a:r>
            <a:endParaRPr lang="en-US" sz="1500"/>
          </a:p>
        </p:txBody>
      </p:sp>
      <p:sp>
        <p:nvSpPr>
          <p:cNvPr id="14" name="Text 14"/>
          <p:cNvSpPr/>
          <p:nvPr/>
        </p:nvSpPr>
        <p:spPr>
          <a:xfrm>
            <a:off x="2880360" y="3611880"/>
            <a:ext cx="123444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count 1</a:t>
            </a:r>
            <a:endParaRPr lang="en-US" sz="1400"/>
          </a:p>
        </p:txBody>
      </p:sp>
      <p:sp>
        <p:nvSpPr>
          <p:cNvPr id="15" name="Text 15"/>
          <p:cNvSpPr/>
          <p:nvPr/>
        </p:nvSpPr>
        <p:spPr>
          <a:xfrm>
            <a:off x="4709160" y="3611880"/>
            <a:ext cx="123444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count 2</a:t>
            </a:r>
            <a:endParaRPr lang="en-US" sz="1400"/>
          </a:p>
        </p:txBody>
      </p:sp>
      <p:sp>
        <p:nvSpPr>
          <p:cNvPr id="16" name="Text 16"/>
          <p:cNvSpPr/>
          <p:nvPr/>
        </p:nvSpPr>
        <p:spPr>
          <a:xfrm>
            <a:off x="6537960" y="3611880"/>
            <a:ext cx="1234440" cy="59436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400" b="1" i="0">
                <a:solidFill>
                  <a:srgbClr val="18212F"/>
                </a:solidFill>
                <a:latin typeface="Aptos"/>
              </a:rPr>
              <a:t>count 3</a:t>
            </a:r>
            <a:endParaRPr lang="en-US" sz="1400"/>
          </a:p>
        </p:txBody>
      </p:sp>
      <p:sp>
        <p:nvSpPr>
          <p:cNvPr id="17" name="Text 17"/>
          <p:cNvSpPr/>
          <p:nvPr/>
        </p:nvSpPr>
        <p:spPr>
          <a:xfrm>
            <a:off x="8732520" y="3429000"/>
            <a:ext cx="2194560" cy="960120"/>
          </a:xfrm>
          <a:prstGeom prst="roundRect">
            <a:avLst/>
          </a:prstGeom>
          <a:solidFill>
            <a:srgbClr val="EAF7EF"/>
          </a:solidFill>
          <a:ln w="11430">
            <a:solidFill>
              <a:srgbClr val="2E9D70"/>
            </a:solidFill>
          </a:ln>
        </p:spPr>
        <p:txBody>
          <a:bodyPr wrap="square" lIns="91440" rIns="91440" tIns="91440" bIns="91440" anchor="ctr">
            <a:lstStyle/>
          </a:bodyPr>
          <a:p>
            <a:pPr algn="ctr"/>
            <a:r>
              <a:rPr lang="en-US" sz="1500" b="1" i="0">
                <a:solidFill>
                  <a:srgbClr val="18212F"/>
                </a:solidFill>
                <a:latin typeface="Aptos"/>
              </a:rPr>
              <a:t>message size = 3</a:t>
            </a:r>
            <a:endParaRPr lang="en-US" sz="1500"/>
          </a:p>
          <a:p>
            <a:pPr algn="ctr"/>
            <a:r>
              <a:rPr lang="en-US" sz="1500" b="1" i="0">
                <a:solidFill>
                  <a:srgbClr val="18212F"/>
                </a:solidFill>
                <a:latin typeface="Aptos"/>
              </a:rPr>
              <a:t>complete</a:t>
            </a:r>
            <a:endParaRPr lang="en-US" sz="1500"/>
          </a:p>
        </p:txBody>
      </p:sp>
      <p:sp>
        <p:nvSpPr>
          <p:cNvPr id="18" name="Line 18"/>
          <p:cNvSpPr/>
          <p:nvPr/>
        </p:nvSpPr>
        <p:spPr>
          <a:xfrm>
            <a:off x="2331720" y="3931920"/>
            <a:ext cx="548640" cy="0"/>
          </a:xfrm>
          <a:prstGeom prst="line">
            <a:avLst/>
          </a:prstGeom>
          <a:ln w="22860">
            <a:solidFill>
              <a:srgbClr val="2F6FED"/>
            </a:solidFill>
            <a:headEnd type="triangle" w="sm" len="sm"/>
          </a:ln>
        </p:spPr>
      </p:sp>
      <p:sp>
        <p:nvSpPr>
          <p:cNvPr id="19" name="Line 19"/>
          <p:cNvSpPr/>
          <p:nvPr/>
        </p:nvSpPr>
        <p:spPr>
          <a:xfrm>
            <a:off x="4114800" y="3931920"/>
            <a:ext cx="594360" cy="0"/>
          </a:xfrm>
          <a:prstGeom prst="line">
            <a:avLst/>
          </a:prstGeom>
          <a:ln w="22860">
            <a:solidFill>
              <a:srgbClr val="2F6FED"/>
            </a:solidFill>
            <a:headEnd type="triangle" w="sm" len="sm"/>
          </a:ln>
        </p:spPr>
      </p:sp>
      <p:sp>
        <p:nvSpPr>
          <p:cNvPr id="20" name="Line 20"/>
          <p:cNvSpPr/>
          <p:nvPr/>
        </p:nvSpPr>
        <p:spPr>
          <a:xfrm>
            <a:off x="5943600" y="3931920"/>
            <a:ext cx="594360" cy="0"/>
          </a:xfrm>
          <a:prstGeom prst="line">
            <a:avLst/>
          </a:prstGeom>
          <a:ln w="22860">
            <a:solidFill>
              <a:srgbClr val="2F6FED"/>
            </a:solidFill>
            <a:headEnd type="triangle" w="sm" len="sm"/>
          </a:ln>
        </p:spPr>
      </p:sp>
      <p:sp>
        <p:nvSpPr>
          <p:cNvPr id="21" name="Line 21"/>
          <p:cNvSpPr/>
          <p:nvPr/>
        </p:nvSpPr>
        <p:spPr>
          <a:xfrm>
            <a:off x="7772400" y="3931920"/>
            <a:ext cx="960120" cy="0"/>
          </a:xfrm>
          <a:prstGeom prst="line">
            <a:avLst/>
          </a:prstGeom>
          <a:ln w="22860">
            <a:solidFill>
              <a:srgbClr val="2E9D70"/>
            </a:solidFill>
            <a:headEnd type="triangle" w="sm" len="sm"/>
          </a:ln>
        </p:spPr>
      </p:sp>
      <p:sp>
        <p:nvSpPr>
          <p:cNvPr id="22" name="Text 22"/>
          <p:cNvSpPr/>
          <p:nvPr/>
        </p:nvSpPr>
        <p:spPr>
          <a:xfrm>
            <a:off x="914400" y="5303520"/>
            <a:ext cx="10241280" cy="411480"/>
          </a:xfrm>
          <a:prstGeom prst="rect">
            <a:avLst/>
          </a:prstGeom>
          <a:noFill/>
          <a:ln>
            <a:noFill/>
          </a:ln>
        </p:spPr>
        <p:txBody>
          <a:bodyPr wrap="square" lIns="73152" rIns="73152" tIns="73152" bIns="73152">
            <a:lstStyle/>
          </a:bodyPr>
          <a:p>
            <a:pPr algn="ctr"/>
            <a:r>
              <a:rPr lang="en-US" sz="1600" b="1" i="0">
                <a:solidFill>
                  <a:srgbClr val="14213D"/>
                </a:solidFill>
                <a:latin typeface="Aptos"/>
              </a:rPr>
              <a:t>Bitmap-free tracking: message-level counting, with retry-round state for fallback retransmissions.</a:t>
            </a:r>
            <a:endParaRPr lang="en-US" sz="1600"/>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Fallback and prototype reality</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§§4.5–5; DCP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15</a:t>
            </a:r>
            <a:endParaRPr lang="en-US" sz="900"/>
          </a:p>
        </p:txBody>
      </p:sp>
      <p:sp>
        <p:nvSpPr>
          <p:cNvPr id="5" name="Text 5"/>
          <p:cNvSpPr/>
          <p:nvPr/>
        </p:nvSpPr>
        <p:spPr>
          <a:xfrm>
            <a:off x="731520" y="1280160"/>
            <a:ext cx="2743200" cy="685800"/>
          </a:xfrm>
          <a:prstGeom prst="roundRect">
            <a:avLst/>
          </a:prstGeom>
          <a:solidFill>
            <a:srgbClr val="EAF7EF"/>
          </a:solidFill>
          <a:ln w="11430">
            <a:solidFill>
              <a:srgbClr val="2E9D70"/>
            </a:solidFill>
          </a:ln>
        </p:spPr>
        <p:txBody>
          <a:bodyPr wrap="square" lIns="91440" rIns="91440" tIns="91440" bIns="91440" anchor="ctr">
            <a:lstStyle/>
          </a:bodyPr>
          <a:p>
            <a:pPr algn="ctr"/>
            <a:r>
              <a:rPr lang="en-US" sz="1700" b="1" i="0">
                <a:solidFill>
                  <a:srgbClr val="18212F"/>
                </a:solidFill>
                <a:latin typeface="Aptos"/>
              </a:rPr>
              <a:t>Normal fast path</a:t>
            </a:r>
            <a:endParaRPr lang="en-US" sz="1700"/>
          </a:p>
        </p:txBody>
      </p:sp>
      <p:sp>
        <p:nvSpPr>
          <p:cNvPr id="6" name="Text 6"/>
          <p:cNvSpPr/>
          <p:nvPr/>
        </p:nvSpPr>
        <p:spPr>
          <a:xfrm>
            <a:off x="868680" y="2240280"/>
            <a:ext cx="2468880" cy="502920"/>
          </a:xfrm>
          <a:prstGeom prst="rect">
            <a:avLst/>
          </a:prstGeom>
          <a:noFill/>
          <a:ln>
            <a:noFill/>
          </a:ln>
        </p:spPr>
        <p:txBody>
          <a:bodyPr wrap="square" lIns="73152" rIns="73152" tIns="73152" bIns="73152">
            <a:lstStyle/>
          </a:bodyPr>
          <a:p>
            <a:pPr algn="ctr"/>
            <a:r>
              <a:rPr lang="en-US" sz="1500" b="0" i="0">
                <a:solidFill>
                  <a:srgbClr val="176B4C"/>
                </a:solidFill>
                <a:latin typeface="Aptos"/>
              </a:rPr>
              <a:t>HO notification → precise PSN retransmission</a:t>
            </a:r>
            <a:endParaRPr lang="en-US" sz="1500"/>
          </a:p>
        </p:txBody>
      </p:sp>
      <p:sp>
        <p:nvSpPr>
          <p:cNvPr id="7" name="Text 7"/>
          <p:cNvSpPr/>
          <p:nvPr/>
        </p:nvSpPr>
        <p:spPr>
          <a:xfrm>
            <a:off x="4663440" y="1280160"/>
            <a:ext cx="2743200" cy="68580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700" b="1" i="0">
                <a:solidFill>
                  <a:srgbClr val="18212F"/>
                </a:solidFill>
                <a:latin typeface="Aptos"/>
              </a:rPr>
              <a:t>HO / link failure</a:t>
            </a:r>
            <a:endParaRPr lang="en-US" sz="1700"/>
          </a:p>
        </p:txBody>
      </p:sp>
      <p:sp>
        <p:nvSpPr>
          <p:cNvPr id="8" name="Text 8"/>
          <p:cNvSpPr/>
          <p:nvPr/>
        </p:nvSpPr>
        <p:spPr>
          <a:xfrm>
            <a:off x="4983480" y="2240280"/>
            <a:ext cx="2103120" cy="320040"/>
          </a:xfrm>
          <a:prstGeom prst="rect">
            <a:avLst/>
          </a:prstGeom>
          <a:noFill/>
          <a:ln>
            <a:noFill/>
          </a:ln>
        </p:spPr>
        <p:txBody>
          <a:bodyPr wrap="square" lIns="73152" rIns="73152" tIns="73152" bIns="73152">
            <a:lstStyle/>
          </a:bodyPr>
          <a:p>
            <a:pPr algn="ctr"/>
            <a:r>
              <a:rPr lang="en-US" sz="1500" b="0" i="0">
                <a:solidFill>
                  <a:srgbClr val="D95555"/>
                </a:solidFill>
                <a:latin typeface="Aptos"/>
              </a:rPr>
              <a:t>coarse timeout fallback</a:t>
            </a:r>
            <a:endParaRPr lang="en-US" sz="1500"/>
          </a:p>
        </p:txBody>
      </p:sp>
      <p:sp>
        <p:nvSpPr>
          <p:cNvPr id="9" name="Text 9"/>
          <p:cNvSpPr/>
          <p:nvPr/>
        </p:nvSpPr>
        <p:spPr>
          <a:xfrm>
            <a:off x="8595360" y="1280160"/>
            <a:ext cx="2560320" cy="68580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700" b="1" i="0">
                <a:solidFill>
                  <a:srgbClr val="18212F"/>
                </a:solidFill>
                <a:latin typeface="Aptos"/>
              </a:rPr>
              <a:t>Prototype</a:t>
            </a:r>
            <a:endParaRPr lang="en-US" sz="1700"/>
          </a:p>
        </p:txBody>
      </p:sp>
      <p:sp>
        <p:nvSpPr>
          <p:cNvPr id="10" name="Text 10"/>
          <p:cNvSpPr/>
          <p:nvPr/>
        </p:nvSpPr>
        <p:spPr>
          <a:xfrm>
            <a:off x="8732520" y="2148840"/>
            <a:ext cx="2286000" cy="640080"/>
          </a:xfrm>
          <a:prstGeom prst="rect">
            <a:avLst/>
          </a:prstGeom>
          <a:noFill/>
          <a:ln>
            <a:noFill/>
          </a:ln>
        </p:spPr>
        <p:txBody>
          <a:bodyPr wrap="square" lIns="73152" rIns="73152" tIns="73152" bIns="73152">
            <a:lstStyle/>
          </a:bodyPr>
          <a:p>
            <a:pPr algn="ctr"/>
            <a:r>
              <a:rPr lang="en-US" sz="1500" b="0" i="0">
                <a:solidFill>
                  <a:srgbClr val="14213D"/>
                </a:solidFill>
                <a:latin typeface="Aptos"/>
              </a:rPr>
              <a:t>P4 switch + FPGA RNIC</a:t>
            </a:r>
            <a:endParaRPr lang="en-US" sz="1500"/>
          </a:p>
          <a:p>
            <a:pPr algn="ctr"/>
            <a:r>
              <a:rPr lang="en-US" sz="1500" b="0" i="0">
                <a:solidFill>
                  <a:srgbClr val="14213D"/>
                </a:solidFill>
                <a:latin typeface="Aptos"/>
              </a:rPr>
              <a:t>100 Gb/s testbed</a:t>
            </a:r>
            <a:endParaRPr lang="en-US" sz="1500"/>
          </a:p>
        </p:txBody>
      </p:sp>
      <p:sp>
        <p:nvSpPr>
          <p:cNvPr id="11" name="Line 11"/>
          <p:cNvSpPr/>
          <p:nvPr/>
        </p:nvSpPr>
        <p:spPr>
          <a:xfrm>
            <a:off x="3474720" y="1645920"/>
            <a:ext cx="1188719" cy="0"/>
          </a:xfrm>
          <a:prstGeom prst="line">
            <a:avLst/>
          </a:prstGeom>
          <a:ln w="22860">
            <a:solidFill>
              <a:srgbClr val="D9E1EF"/>
            </a:solidFill>
            <a:headEnd type="triangle" w="sm" len="sm"/>
          </a:ln>
        </p:spPr>
      </p:sp>
      <p:sp>
        <p:nvSpPr>
          <p:cNvPr id="12" name="Line 12"/>
          <p:cNvSpPr/>
          <p:nvPr/>
        </p:nvSpPr>
        <p:spPr>
          <a:xfrm>
            <a:off x="7406640" y="1645920"/>
            <a:ext cx="1188720" cy="0"/>
          </a:xfrm>
          <a:prstGeom prst="line">
            <a:avLst/>
          </a:prstGeom>
          <a:ln w="22860">
            <a:solidFill>
              <a:srgbClr val="D9E1EF"/>
            </a:solidFill>
            <a:headEnd type="triangle" w="sm" len="sm"/>
          </a:ln>
        </p:spPr>
      </p:sp>
      <p:sp>
        <p:nvSpPr>
          <p:cNvPr id="13" name="Text 13"/>
          <p:cNvSpPr/>
          <p:nvPr/>
        </p:nvSpPr>
        <p:spPr>
          <a:xfrm>
            <a:off x="914400" y="3886200"/>
            <a:ext cx="10241280" cy="594360"/>
          </a:xfrm>
          <a:prstGeom prst="rect">
            <a:avLst/>
          </a:prstGeom>
          <a:noFill/>
          <a:ln>
            <a:noFill/>
          </a:ln>
        </p:spPr>
        <p:txBody>
          <a:bodyPr wrap="square" lIns="73152" rIns="73152" tIns="73152" bIns="73152">
            <a:lstStyle/>
          </a:bodyPr>
          <a:p>
            <a:pPr algn="ctr" marL="0"/>
            <a:r>
              <a:rPr lang="en-US" sz="1800" b="1" i="0">
                <a:solidFill>
                  <a:srgbClr val="14213D"/>
                </a:solidFill>
                <a:latin typeface="Aptos"/>
              </a:rPr>
              <a:t>Important qualification: DCP’s control plane is protected by scheduling, not magically immune to failures.</a:t>
            </a:r>
            <a:endParaRPr lang="en-US" sz="1800"/>
          </a:p>
        </p:txBody>
      </p:sp>
      <p:sp>
        <p:nvSpPr>
          <p:cNvPr id="14" name="Text 14"/>
          <p:cNvSpPr/>
          <p:nvPr/>
        </p:nvSpPr>
        <p:spPr>
          <a:xfrm>
            <a:off x="1234440" y="4983480"/>
            <a:ext cx="9692640" cy="411480"/>
          </a:xfrm>
          <a:prstGeom prst="rect">
            <a:avLst/>
          </a:prstGeom>
          <a:noFill/>
          <a:ln>
            <a:noFill/>
          </a:ln>
        </p:spPr>
        <p:txBody>
          <a:bodyPr wrap="square" lIns="73152" rIns="73152" tIns="73152" bIns="73152">
            <a:lstStyle/>
          </a:bodyPr>
          <a:p>
            <a:pPr algn="ctr"/>
            <a:r>
              <a:rPr lang="en-US" sz="1500" b="0" i="0">
                <a:solidFill>
                  <a:srgbClr val="D95555"/>
                </a:solidFill>
                <a:latin typeface="Aptos"/>
              </a:rPr>
              <a:t>The paper’s Table 5 includes a nonzero HO-loss case under severe incast without congestion control.</a:t>
            </a:r>
            <a:endParaRPr lang="en-US" sz="1500"/>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Evaluation map: what evidence is what?</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§§5–6; DCP Reference evidence table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16</a:t>
            </a:r>
            <a:endParaRPr lang="en-US" sz="900"/>
          </a:p>
        </p:txBody>
      </p:sp>
      <p:sp>
        <p:nvSpPr>
          <p:cNvPr id="5" name="Text 5"/>
          <p:cNvSpPr/>
          <p:nvPr/>
        </p:nvSpPr>
        <p:spPr>
          <a:xfrm>
            <a:off x="594360" y="1143000"/>
            <a:ext cx="2194560" cy="530352"/>
          </a:xfrm>
          <a:prstGeom prst="roundRect">
            <a:avLst/>
          </a:prstGeom>
          <a:solidFill>
            <a:srgbClr val="14213D"/>
          </a:solidFill>
          <a:ln w="11430">
            <a:solidFill>
              <a:srgbClr val="14213D"/>
            </a:solidFill>
          </a:ln>
        </p:spPr>
        <p:txBody>
          <a:bodyPr wrap="square" lIns="91440" rIns="91440" tIns="91440" bIns="91440" anchor="ctr">
            <a:lstStyle/>
          </a:bodyPr>
          <a:p>
            <a:pPr algn="ctr"/>
            <a:r>
              <a:rPr lang="en-US" sz="1200" b="1" i="0">
                <a:solidFill>
                  <a:srgbClr val="18212F"/>
                </a:solidFill>
                <a:latin typeface="Aptos"/>
              </a:rPr>
              <a:t>Experiment</a:t>
            </a:r>
            <a:endParaRPr lang="en-US" sz="1200"/>
          </a:p>
        </p:txBody>
      </p:sp>
      <p:sp>
        <p:nvSpPr>
          <p:cNvPr id="6" name="Text 6"/>
          <p:cNvSpPr/>
          <p:nvPr/>
        </p:nvSpPr>
        <p:spPr>
          <a:xfrm>
            <a:off x="2880360" y="1143000"/>
            <a:ext cx="2148840" cy="530352"/>
          </a:xfrm>
          <a:prstGeom prst="roundRect">
            <a:avLst/>
          </a:prstGeom>
          <a:solidFill>
            <a:srgbClr val="14213D"/>
          </a:solidFill>
          <a:ln w="11430">
            <a:solidFill>
              <a:srgbClr val="14213D"/>
            </a:solidFill>
          </a:ln>
        </p:spPr>
        <p:txBody>
          <a:bodyPr wrap="square" lIns="91440" rIns="91440" tIns="91440" bIns="91440" anchor="ctr">
            <a:lstStyle/>
          </a:bodyPr>
          <a:p>
            <a:pPr algn="ctr"/>
            <a:r>
              <a:rPr lang="en-US" sz="1200" b="1" i="0">
                <a:solidFill>
                  <a:srgbClr val="18212F"/>
                </a:solidFill>
                <a:latin typeface="Aptos"/>
              </a:rPr>
              <a:t>Evidence type</a:t>
            </a:r>
            <a:endParaRPr lang="en-US" sz="1200"/>
          </a:p>
        </p:txBody>
      </p:sp>
      <p:sp>
        <p:nvSpPr>
          <p:cNvPr id="7" name="Text 7"/>
          <p:cNvSpPr/>
          <p:nvPr/>
        </p:nvSpPr>
        <p:spPr>
          <a:xfrm>
            <a:off x="5120640" y="1143000"/>
            <a:ext cx="2971800" cy="530352"/>
          </a:xfrm>
          <a:prstGeom prst="roundRect">
            <a:avLst/>
          </a:prstGeom>
          <a:solidFill>
            <a:srgbClr val="14213D"/>
          </a:solidFill>
          <a:ln w="11430">
            <a:solidFill>
              <a:srgbClr val="14213D"/>
            </a:solidFill>
          </a:ln>
        </p:spPr>
        <p:txBody>
          <a:bodyPr wrap="square" lIns="91440" rIns="91440" tIns="91440" bIns="91440" anchor="ctr">
            <a:lstStyle/>
          </a:bodyPr>
          <a:p>
            <a:pPr algn="ctr"/>
            <a:r>
              <a:rPr lang="en-US" sz="1200" b="1" i="0">
                <a:solidFill>
                  <a:srgbClr val="18212F"/>
                </a:solidFill>
                <a:latin typeface="Aptos"/>
              </a:rPr>
              <a:t>Scenario</a:t>
            </a:r>
            <a:endParaRPr lang="en-US" sz="1200"/>
          </a:p>
        </p:txBody>
      </p:sp>
      <p:sp>
        <p:nvSpPr>
          <p:cNvPr id="8" name="Text 8"/>
          <p:cNvSpPr/>
          <p:nvPr/>
        </p:nvSpPr>
        <p:spPr>
          <a:xfrm>
            <a:off x="8183879" y="1143000"/>
            <a:ext cx="3886200" cy="530352"/>
          </a:xfrm>
          <a:prstGeom prst="roundRect">
            <a:avLst/>
          </a:prstGeom>
          <a:solidFill>
            <a:srgbClr val="14213D"/>
          </a:solidFill>
          <a:ln w="11430">
            <a:solidFill>
              <a:srgbClr val="14213D"/>
            </a:solidFill>
          </a:ln>
        </p:spPr>
        <p:txBody>
          <a:bodyPr wrap="square" lIns="91440" rIns="91440" tIns="91440" bIns="91440" anchor="ctr">
            <a:lstStyle/>
          </a:bodyPr>
          <a:p>
            <a:pPr algn="ctr"/>
            <a:r>
              <a:rPr lang="en-US" sz="1200" b="1" i="0">
                <a:solidFill>
                  <a:srgbClr val="18212F"/>
                </a:solidFill>
                <a:latin typeface="Aptos"/>
              </a:rPr>
              <a:t>Paper-reported result</a:t>
            </a:r>
            <a:endParaRPr lang="en-US" sz="1200"/>
          </a:p>
        </p:txBody>
      </p:sp>
      <p:sp>
        <p:nvSpPr>
          <p:cNvPr id="9" name="Text 9"/>
          <p:cNvSpPr/>
          <p:nvPr/>
        </p:nvSpPr>
        <p:spPr>
          <a:xfrm>
            <a:off x="658368" y="1801368"/>
            <a:ext cx="2066543"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Controlled loss</a:t>
            </a:r>
            <a:endParaRPr lang="en-US" sz="1250"/>
          </a:p>
        </p:txBody>
      </p:sp>
      <p:sp>
        <p:nvSpPr>
          <p:cNvPr id="10" name="Text 10"/>
          <p:cNvSpPr/>
          <p:nvPr/>
        </p:nvSpPr>
        <p:spPr>
          <a:xfrm>
            <a:off x="2944368" y="1801368"/>
            <a:ext cx="202082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hardware testbed</a:t>
            </a:r>
            <a:endParaRPr lang="en-US" sz="1250"/>
          </a:p>
        </p:txBody>
      </p:sp>
      <p:sp>
        <p:nvSpPr>
          <p:cNvPr id="11" name="Text 11"/>
          <p:cNvSpPr/>
          <p:nvPr/>
        </p:nvSpPr>
        <p:spPr>
          <a:xfrm>
            <a:off x="5184648" y="1801368"/>
            <a:ext cx="28437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16 RNICs; 2 P4 switches; 100 Gb/s; 0.01%–5% injected loss</a:t>
            </a:r>
            <a:endParaRPr lang="en-US" sz="1250"/>
          </a:p>
        </p:txBody>
      </p:sp>
      <p:sp>
        <p:nvSpPr>
          <p:cNvPr id="12" name="Text 12"/>
          <p:cNvSpPr/>
          <p:nvPr/>
        </p:nvSpPr>
        <p:spPr>
          <a:xfrm>
            <a:off x="8247888" y="1801368"/>
            <a:ext cx="37581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1.6×–72× recovery efficiency vs CX5</a:t>
            </a:r>
            <a:endParaRPr lang="en-US" sz="1250"/>
          </a:p>
        </p:txBody>
      </p:sp>
      <p:sp>
        <p:nvSpPr>
          <p:cNvPr id="13" name="Text 13"/>
          <p:cNvSpPr/>
          <p:nvPr/>
        </p:nvSpPr>
        <p:spPr>
          <a:xfrm>
            <a:off x="658368" y="2715768"/>
            <a:ext cx="2066543"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Routing</a:t>
            </a:r>
            <a:endParaRPr lang="en-US" sz="1250"/>
          </a:p>
        </p:txBody>
      </p:sp>
      <p:sp>
        <p:nvSpPr>
          <p:cNvPr id="14" name="Text 14"/>
          <p:cNvSpPr/>
          <p:nvPr/>
        </p:nvSpPr>
        <p:spPr>
          <a:xfrm>
            <a:off x="2944368" y="2715768"/>
            <a:ext cx="202082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hardware testbed</a:t>
            </a:r>
            <a:endParaRPr lang="en-US" sz="1250"/>
          </a:p>
        </p:txBody>
      </p:sp>
      <p:sp>
        <p:nvSpPr>
          <p:cNvPr id="15" name="Text 15"/>
          <p:cNvSpPr/>
          <p:nvPr/>
        </p:nvSpPr>
        <p:spPr>
          <a:xfrm>
            <a:off x="5184648" y="2715768"/>
            <a:ext cx="28437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16-RNIC / 2-switch testbed; adaptive routing / unequal paths</a:t>
            </a:r>
            <a:endParaRPr lang="en-US" sz="1250"/>
          </a:p>
        </p:txBody>
      </p:sp>
      <p:sp>
        <p:nvSpPr>
          <p:cNvPr id="16" name="Text 16"/>
          <p:cNvSpPr/>
          <p:nvPr/>
        </p:nvSpPr>
        <p:spPr>
          <a:xfrm>
            <a:off x="8247888" y="2715768"/>
            <a:ext cx="37581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stable goodput; CX5 degrades</a:t>
            </a:r>
            <a:endParaRPr lang="en-US" sz="1250"/>
          </a:p>
        </p:txBody>
      </p:sp>
      <p:sp>
        <p:nvSpPr>
          <p:cNvPr id="17" name="Text 17"/>
          <p:cNvSpPr/>
          <p:nvPr/>
        </p:nvSpPr>
        <p:spPr>
          <a:xfrm>
            <a:off x="658368" y="3630168"/>
            <a:ext cx="2066543"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AI collectives</a:t>
            </a:r>
            <a:endParaRPr lang="en-US" sz="1250"/>
          </a:p>
        </p:txBody>
      </p:sp>
      <p:sp>
        <p:nvSpPr>
          <p:cNvPr id="18" name="Text 18"/>
          <p:cNvSpPr/>
          <p:nvPr/>
        </p:nvSpPr>
        <p:spPr>
          <a:xfrm>
            <a:off x="2944368" y="3630168"/>
            <a:ext cx="202082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hardware testbed</a:t>
            </a:r>
            <a:endParaRPr lang="en-US" sz="1250"/>
          </a:p>
        </p:txBody>
      </p:sp>
      <p:sp>
        <p:nvSpPr>
          <p:cNvPr id="19" name="Text 19"/>
          <p:cNvSpPr/>
          <p:nvPr/>
        </p:nvSpPr>
        <p:spPr>
          <a:xfrm>
            <a:off x="5184648" y="3630168"/>
            <a:ext cx="28437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16-RNIC testbed; AllReduce / AllToAll</a:t>
            </a:r>
            <a:endParaRPr lang="en-US" sz="1250"/>
          </a:p>
        </p:txBody>
      </p:sp>
      <p:sp>
        <p:nvSpPr>
          <p:cNvPr id="20" name="Text 20"/>
          <p:cNvSpPr/>
          <p:nvPr/>
        </p:nvSpPr>
        <p:spPr>
          <a:xfrm>
            <a:off x="8247888" y="3630168"/>
            <a:ext cx="37581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up to 33% / 42% lower JCT vs CX5</a:t>
            </a:r>
            <a:endParaRPr lang="en-US" sz="1250"/>
          </a:p>
        </p:txBody>
      </p:sp>
      <p:sp>
        <p:nvSpPr>
          <p:cNvPr id="21" name="Text 21"/>
          <p:cNvSpPr/>
          <p:nvPr/>
        </p:nvSpPr>
        <p:spPr>
          <a:xfrm>
            <a:off x="658368" y="4544568"/>
            <a:ext cx="2066543"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WebSearch + cross-DC</a:t>
            </a:r>
            <a:endParaRPr lang="en-US" sz="1250"/>
          </a:p>
        </p:txBody>
      </p:sp>
      <p:sp>
        <p:nvSpPr>
          <p:cNvPr id="22" name="Text 22"/>
          <p:cNvSpPr/>
          <p:nvPr/>
        </p:nvSpPr>
        <p:spPr>
          <a:xfrm>
            <a:off x="2944368" y="4544568"/>
            <a:ext cx="202082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NS-3 simulation</a:t>
            </a:r>
            <a:endParaRPr lang="en-US" sz="1250"/>
          </a:p>
        </p:txBody>
      </p:sp>
      <p:sp>
        <p:nvSpPr>
          <p:cNvPr id="23" name="Text 23"/>
          <p:cNvSpPr/>
          <p:nvPr/>
        </p:nvSpPr>
        <p:spPr>
          <a:xfrm>
            <a:off x="5184648" y="4544568"/>
            <a:ext cx="28437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256-server CLOS; 100/1000-km-style delays</a:t>
            </a:r>
            <a:endParaRPr lang="en-US" sz="1250"/>
          </a:p>
        </p:txBody>
      </p:sp>
      <p:sp>
        <p:nvSpPr>
          <p:cNvPr id="24" name="Text 24"/>
          <p:cNvSpPr/>
          <p:nvPr/>
        </p:nvSpPr>
        <p:spPr>
          <a:xfrm>
            <a:off x="8247888" y="4544568"/>
            <a:ext cx="3758184" cy="685800"/>
          </a:xfrm>
          <a:prstGeom prst="roundRect">
            <a:avLst/>
          </a:prstGeom>
          <a:solidFill>
            <a:srgbClr val="FFFFFF"/>
          </a:solidFill>
          <a:ln w="11430">
            <a:solidFill>
              <a:srgbClr val="D9E1EF"/>
            </a:solidFill>
          </a:ln>
        </p:spPr>
        <p:txBody>
          <a:bodyPr wrap="square" lIns="73152" rIns="73152" tIns="73152" bIns="73152">
            <a:lstStyle/>
          </a:bodyPr>
          <a:p>
            <a:pPr algn="l"/>
            <a:r>
              <a:rPr lang="en-US" sz="1250" b="0" i="0">
                <a:solidFill>
                  <a:srgbClr val="18212F"/>
                </a:solidFill>
                <a:latin typeface="Aptos"/>
              </a:rPr>
              <a:t>tail FCT / JCT comparisons</a:t>
            </a:r>
            <a:endParaRPr lang="en-US" sz="1250"/>
          </a:p>
        </p:txBody>
      </p:sp>
      <p:sp>
        <p:nvSpPr>
          <p:cNvPr id="25" name="Text 25"/>
          <p:cNvSpPr/>
          <p:nvPr/>
        </p:nvSpPr>
        <p:spPr>
          <a:xfrm>
            <a:off x="914400" y="5715000"/>
            <a:ext cx="10241280" cy="320040"/>
          </a:xfrm>
          <a:prstGeom prst="rect">
            <a:avLst/>
          </a:prstGeom>
          <a:noFill/>
          <a:ln>
            <a:noFill/>
          </a:ln>
        </p:spPr>
        <p:txBody>
          <a:bodyPr wrap="square" lIns="73152" rIns="73152" tIns="73152" bIns="73152">
            <a:lstStyle/>
          </a:bodyPr>
          <a:p>
            <a:pPr algn="ctr"/>
            <a:r>
              <a:rPr lang="en-US" sz="1500" b="1" i="0">
                <a:solidFill>
                  <a:srgbClr val="D95555"/>
                </a:solidFill>
                <a:latin typeface="Aptos"/>
              </a:rPr>
              <a:t>Always label: measured testbed vs simulated topology; goodput vs FCT vs JCT.</a:t>
            </a:r>
            <a:endParaRPr lang="en-US" sz="1500"/>
          </a:p>
        </p:txBody>
      </p:sp>
    </p:spTree>
  </p:cSld>
  <p:clrMapOvr>
    <a:masterClrMapping/>
  </p:clrMapOvr>
</p:sld>
</file>

<file path=ppt/slides/slide17.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Evaluation: general and AI workloads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1:15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§6.2; Figures 13–14</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17</a:t>
            </a:r>
            <a:endParaRPr lang="en-US" sz="900"/>
          </a:p>
        </p:txBody>
      </p:sp>
      <p:sp>
        <p:nvSpPr>
          <p:cNvPr id="5" name="Text 5"/>
          <p:cNvSpPr/>
          <p:nvPr/>
        </p:nvSpPr>
        <p:spPr>
          <a:xfrm>
            <a:off x="777240" y="914400"/>
            <a:ext cx="10607040" cy="320040"/>
          </a:xfrm>
          <a:prstGeom prst="rect">
            <a:avLst/>
          </a:prstGeom>
          <a:noFill/>
          <a:ln>
            <a:noFill/>
          </a:ln>
        </p:spPr>
        <p:txBody>
          <a:bodyPr wrap="square" lIns="73152" rIns="73152" tIns="73152" bIns="73152">
            <a:lstStyle/>
          </a:bodyPr>
          <a:p>
            <a:pPr algn="ctr" marL="0"/>
            <a:r>
              <a:rPr lang="en-US" sz="1900" b="1" i="0">
                <a:solidFill>
                  <a:srgbClr val="14213D"/>
                </a:solidFill>
                <a:latin typeface="Aptos"/>
              </a:rPr>
              <a:t>Paper-reported workload comparisons</a:t>
            </a:r>
            <a:endParaRPr lang="en-US" sz="1900"/>
          </a:p>
        </p:txBody>
      </p:sp>
      <p:sp>
        <p:nvSpPr>
          <p:cNvPr id="6" name="Text 6"/>
          <p:cNvSpPr/>
          <p:nvPr/>
        </p:nvSpPr>
        <p:spPr>
          <a:xfrm>
            <a:off x="822960" y="1508760"/>
            <a:ext cx="5943600" cy="274320"/>
          </a:xfrm>
          <a:prstGeom prst="rect">
            <a:avLst/>
          </a:prstGeom>
          <a:noFill/>
          <a:ln>
            <a:noFill/>
          </a:ln>
        </p:spPr>
        <p:txBody>
          <a:bodyPr wrap="square" lIns="73152" rIns="73152" tIns="73152" bIns="73152">
            <a:lstStyle/>
          </a:bodyPr>
          <a:p>
            <a:pPr algn="l"/>
            <a:r>
              <a:rPr lang="en-US" sz="1300" b="0" i="0">
                <a:solidFill>
                  <a:srgbClr val="5B677A"/>
                </a:solidFill>
                <a:latin typeface="Aptos"/>
              </a:rPr>
              <a:t>Relative P95 tail FCT (lower is better; illustrative bars based on reported % deltas)</a:t>
            </a:r>
            <a:endParaRPr lang="en-US" sz="1300"/>
          </a:p>
        </p:txBody>
      </p:sp>
      <p:sp>
        <p:nvSpPr>
          <p:cNvPr id="7" name="Text 7"/>
          <p:cNvSpPr/>
          <p:nvPr/>
        </p:nvSpPr>
        <p:spPr>
          <a:xfrm>
            <a:off x="868680" y="1920240"/>
            <a:ext cx="1828800" cy="228600"/>
          </a:xfrm>
          <a:prstGeom prst="rect">
            <a:avLst/>
          </a:prstGeom>
          <a:noFill/>
          <a:ln>
            <a:noFill/>
          </a:ln>
        </p:spPr>
        <p:txBody>
          <a:bodyPr wrap="square" lIns="73152" rIns="73152" tIns="73152" bIns="73152">
            <a:lstStyle/>
          </a:bodyPr>
          <a:p>
            <a:pPr algn="l"/>
            <a:r>
              <a:rPr lang="en-US" sz="1200" b="0" i="0">
                <a:solidFill>
                  <a:srgbClr val="18212F"/>
                </a:solidFill>
                <a:latin typeface="Aptos"/>
              </a:rPr>
              <a:t>IRN @ load .3</a:t>
            </a:r>
            <a:endParaRPr lang="en-US" sz="1200"/>
          </a:p>
        </p:txBody>
      </p:sp>
      <p:sp>
        <p:nvSpPr>
          <p:cNvPr id="8" name="Text 8"/>
          <p:cNvSpPr/>
          <p:nvPr/>
        </p:nvSpPr>
        <p:spPr>
          <a:xfrm>
            <a:off x="2788920" y="1920240"/>
            <a:ext cx="2953512" cy="292608"/>
          </a:xfrm>
          <a:prstGeom prst="rect">
            <a:avLst/>
          </a:prstGeom>
          <a:solidFill>
            <a:srgbClr val="FCECEC"/>
          </a:solidFill>
          <a:ln w="11430">
            <a:solidFill>
              <a:srgbClr val="D95555"/>
            </a:solidFill>
          </a:ln>
        </p:spPr>
        <p:txBody>
          <a:bodyPr wrap="square" lIns="0" rIns="0" tIns="0" bIns="0">
            <a:lstStyle/>
          </a:bodyPr>
          <a:p>
            <a:pPr algn="l"/>
            <a:r>
              <a:rPr lang="en-US" sz="100" b="0" i="0">
                <a:solidFill>
                  <a:srgbClr val="18212F"/>
                </a:solidFill>
                <a:latin typeface="Aptos"/>
              </a:rPr>
              <a:t/>
            </a:r>
            <a:endParaRPr lang="en-US" sz="100"/>
          </a:p>
        </p:txBody>
      </p:sp>
      <p:sp>
        <p:nvSpPr>
          <p:cNvPr id="9" name="Text 9"/>
          <p:cNvSpPr/>
          <p:nvPr/>
        </p:nvSpPr>
        <p:spPr>
          <a:xfrm>
            <a:off x="6080760" y="1920240"/>
            <a:ext cx="914400" cy="228600"/>
          </a:xfrm>
          <a:prstGeom prst="rect">
            <a:avLst/>
          </a:prstGeom>
          <a:noFill/>
          <a:ln>
            <a:noFill/>
          </a:ln>
        </p:spPr>
        <p:txBody>
          <a:bodyPr wrap="square" lIns="73152" rIns="73152" tIns="73152" bIns="73152">
            <a:lstStyle/>
          </a:bodyPr>
          <a:p>
            <a:pPr algn="l"/>
            <a:r>
              <a:rPr lang="en-US" sz="1100" b="0" i="0">
                <a:solidFill>
                  <a:srgbClr val="5B677A"/>
                </a:solidFill>
                <a:latin typeface="Aptos"/>
              </a:rPr>
              <a:t>DCP = 1.00</a:t>
            </a:r>
            <a:endParaRPr lang="en-US" sz="1100"/>
          </a:p>
        </p:txBody>
      </p:sp>
      <p:sp>
        <p:nvSpPr>
          <p:cNvPr id="10" name="Text 10"/>
          <p:cNvSpPr/>
          <p:nvPr/>
        </p:nvSpPr>
        <p:spPr>
          <a:xfrm>
            <a:off x="868680" y="2487168"/>
            <a:ext cx="1828800" cy="228600"/>
          </a:xfrm>
          <a:prstGeom prst="rect">
            <a:avLst/>
          </a:prstGeom>
          <a:noFill/>
          <a:ln>
            <a:noFill/>
          </a:ln>
        </p:spPr>
        <p:txBody>
          <a:bodyPr wrap="square" lIns="73152" rIns="73152" tIns="73152" bIns="73152">
            <a:lstStyle/>
          </a:bodyPr>
          <a:p>
            <a:pPr algn="l"/>
            <a:r>
              <a:rPr lang="en-US" sz="1200" b="0" i="0">
                <a:solidFill>
                  <a:srgbClr val="18212F"/>
                </a:solidFill>
                <a:latin typeface="Aptos"/>
              </a:rPr>
              <a:t>MP-RDMA @ load .3</a:t>
            </a:r>
            <a:endParaRPr lang="en-US" sz="1200"/>
          </a:p>
        </p:txBody>
      </p:sp>
      <p:sp>
        <p:nvSpPr>
          <p:cNvPr id="11" name="Text 11"/>
          <p:cNvSpPr/>
          <p:nvPr/>
        </p:nvSpPr>
        <p:spPr>
          <a:xfrm>
            <a:off x="2788920" y="2487168"/>
            <a:ext cx="2611526" cy="292608"/>
          </a:xfrm>
          <a:prstGeom prst="rect">
            <a:avLst/>
          </a:prstGeom>
          <a:solidFill>
            <a:srgbClr val="FFF4DD"/>
          </a:solidFill>
          <a:ln w="11430">
            <a:solidFill>
              <a:srgbClr val="F59E0B"/>
            </a:solidFill>
          </a:ln>
        </p:spPr>
        <p:txBody>
          <a:bodyPr wrap="square" lIns="0" rIns="0" tIns="0" bIns="0">
            <a:lstStyle/>
          </a:bodyPr>
          <a:p>
            <a:pPr algn="l"/>
            <a:r>
              <a:rPr lang="en-US" sz="100" b="0" i="0">
                <a:solidFill>
                  <a:srgbClr val="18212F"/>
                </a:solidFill>
                <a:latin typeface="Aptos"/>
              </a:rPr>
              <a:t/>
            </a:r>
            <a:endParaRPr lang="en-US" sz="100"/>
          </a:p>
        </p:txBody>
      </p:sp>
      <p:sp>
        <p:nvSpPr>
          <p:cNvPr id="12" name="Text 12"/>
          <p:cNvSpPr/>
          <p:nvPr/>
        </p:nvSpPr>
        <p:spPr>
          <a:xfrm>
            <a:off x="6080760" y="2487168"/>
            <a:ext cx="914400" cy="228600"/>
          </a:xfrm>
          <a:prstGeom prst="rect">
            <a:avLst/>
          </a:prstGeom>
          <a:noFill/>
          <a:ln>
            <a:noFill/>
          </a:ln>
        </p:spPr>
        <p:txBody>
          <a:bodyPr wrap="square" lIns="73152" rIns="73152" tIns="73152" bIns="73152">
            <a:lstStyle/>
          </a:bodyPr>
          <a:p>
            <a:pPr algn="l"/>
            <a:r>
              <a:rPr lang="en-US" sz="1100" b="0" i="0">
                <a:solidFill>
                  <a:srgbClr val="5B677A"/>
                </a:solidFill>
                <a:latin typeface="Aptos"/>
              </a:rPr>
              <a:t>DCP = 1.00</a:t>
            </a:r>
            <a:endParaRPr lang="en-US" sz="1100"/>
          </a:p>
        </p:txBody>
      </p:sp>
      <p:sp>
        <p:nvSpPr>
          <p:cNvPr id="13" name="Text 13"/>
          <p:cNvSpPr/>
          <p:nvPr/>
        </p:nvSpPr>
        <p:spPr>
          <a:xfrm>
            <a:off x="868680" y="3054096"/>
            <a:ext cx="1828800" cy="228600"/>
          </a:xfrm>
          <a:prstGeom prst="rect">
            <a:avLst/>
          </a:prstGeom>
          <a:noFill/>
          <a:ln>
            <a:noFill/>
          </a:ln>
        </p:spPr>
        <p:txBody>
          <a:bodyPr wrap="square" lIns="73152" rIns="73152" tIns="73152" bIns="73152">
            <a:lstStyle/>
          </a:bodyPr>
          <a:p>
            <a:pPr algn="l"/>
            <a:r>
              <a:rPr lang="en-US" sz="1200" b="0" i="0">
                <a:solidFill>
                  <a:srgbClr val="18212F"/>
                </a:solidFill>
                <a:latin typeface="Aptos"/>
              </a:rPr>
              <a:t>IRN @ load .5</a:t>
            </a:r>
            <a:endParaRPr lang="en-US" sz="1200"/>
          </a:p>
        </p:txBody>
      </p:sp>
      <p:sp>
        <p:nvSpPr>
          <p:cNvPr id="14" name="Text 14"/>
          <p:cNvSpPr/>
          <p:nvPr/>
        </p:nvSpPr>
        <p:spPr>
          <a:xfrm>
            <a:off x="2788920" y="3054096"/>
            <a:ext cx="2798064" cy="292608"/>
          </a:xfrm>
          <a:prstGeom prst="rect">
            <a:avLst/>
          </a:prstGeom>
          <a:solidFill>
            <a:srgbClr val="FCECEC"/>
          </a:solidFill>
          <a:ln w="11430">
            <a:solidFill>
              <a:srgbClr val="D95555"/>
            </a:solidFill>
          </a:ln>
        </p:spPr>
        <p:txBody>
          <a:bodyPr wrap="square" lIns="0" rIns="0" tIns="0" bIns="0">
            <a:lstStyle/>
          </a:bodyPr>
          <a:p>
            <a:pPr algn="l"/>
            <a:r>
              <a:rPr lang="en-US" sz="100" b="0" i="0">
                <a:solidFill>
                  <a:srgbClr val="18212F"/>
                </a:solidFill>
                <a:latin typeface="Aptos"/>
              </a:rPr>
              <a:t/>
            </a:r>
            <a:endParaRPr lang="en-US" sz="100"/>
          </a:p>
        </p:txBody>
      </p:sp>
      <p:sp>
        <p:nvSpPr>
          <p:cNvPr id="15" name="Text 15"/>
          <p:cNvSpPr/>
          <p:nvPr/>
        </p:nvSpPr>
        <p:spPr>
          <a:xfrm>
            <a:off x="6080760" y="3054096"/>
            <a:ext cx="914400" cy="228600"/>
          </a:xfrm>
          <a:prstGeom prst="rect">
            <a:avLst/>
          </a:prstGeom>
          <a:noFill/>
          <a:ln>
            <a:noFill/>
          </a:ln>
        </p:spPr>
        <p:txBody>
          <a:bodyPr wrap="square" lIns="73152" rIns="73152" tIns="73152" bIns="73152">
            <a:lstStyle/>
          </a:bodyPr>
          <a:p>
            <a:pPr algn="l"/>
            <a:r>
              <a:rPr lang="en-US" sz="1100" b="0" i="0">
                <a:solidFill>
                  <a:srgbClr val="5B677A"/>
                </a:solidFill>
                <a:latin typeface="Aptos"/>
              </a:rPr>
              <a:t>DCP = 1.00</a:t>
            </a:r>
            <a:endParaRPr lang="en-US" sz="1100"/>
          </a:p>
        </p:txBody>
      </p:sp>
      <p:sp>
        <p:nvSpPr>
          <p:cNvPr id="16" name="Text 16"/>
          <p:cNvSpPr/>
          <p:nvPr/>
        </p:nvSpPr>
        <p:spPr>
          <a:xfrm>
            <a:off x="868680" y="3621024"/>
            <a:ext cx="1828800" cy="228600"/>
          </a:xfrm>
          <a:prstGeom prst="rect">
            <a:avLst/>
          </a:prstGeom>
          <a:noFill/>
          <a:ln>
            <a:noFill/>
          </a:ln>
        </p:spPr>
        <p:txBody>
          <a:bodyPr wrap="square" lIns="73152" rIns="73152" tIns="73152" bIns="73152">
            <a:lstStyle/>
          </a:bodyPr>
          <a:p>
            <a:pPr algn="l"/>
            <a:r>
              <a:rPr lang="en-US" sz="1200" b="0" i="0">
                <a:solidFill>
                  <a:srgbClr val="18212F"/>
                </a:solidFill>
                <a:latin typeface="Aptos"/>
              </a:rPr>
              <a:t>MP-RDMA @ load .5</a:t>
            </a:r>
            <a:endParaRPr lang="en-US" sz="1200"/>
          </a:p>
        </p:txBody>
      </p:sp>
      <p:sp>
        <p:nvSpPr>
          <p:cNvPr id="17" name="Text 17"/>
          <p:cNvSpPr/>
          <p:nvPr/>
        </p:nvSpPr>
        <p:spPr>
          <a:xfrm>
            <a:off x="2788920" y="3621024"/>
            <a:ext cx="2735884" cy="292608"/>
          </a:xfrm>
          <a:prstGeom prst="rect">
            <a:avLst/>
          </a:prstGeom>
          <a:solidFill>
            <a:srgbClr val="FFF4DD"/>
          </a:solidFill>
          <a:ln w="11430">
            <a:solidFill>
              <a:srgbClr val="F59E0B"/>
            </a:solidFill>
          </a:ln>
        </p:spPr>
        <p:txBody>
          <a:bodyPr wrap="square" lIns="0" rIns="0" tIns="0" bIns="0">
            <a:lstStyle/>
          </a:bodyPr>
          <a:p>
            <a:pPr algn="l"/>
            <a:r>
              <a:rPr lang="en-US" sz="100" b="0" i="0">
                <a:solidFill>
                  <a:srgbClr val="18212F"/>
                </a:solidFill>
                <a:latin typeface="Aptos"/>
              </a:rPr>
              <a:t/>
            </a:r>
            <a:endParaRPr lang="en-US" sz="100"/>
          </a:p>
        </p:txBody>
      </p:sp>
      <p:sp>
        <p:nvSpPr>
          <p:cNvPr id="18" name="Text 18"/>
          <p:cNvSpPr/>
          <p:nvPr/>
        </p:nvSpPr>
        <p:spPr>
          <a:xfrm>
            <a:off x="6080760" y="3621024"/>
            <a:ext cx="914400" cy="228600"/>
          </a:xfrm>
          <a:prstGeom prst="rect">
            <a:avLst/>
          </a:prstGeom>
          <a:noFill/>
          <a:ln>
            <a:noFill/>
          </a:ln>
        </p:spPr>
        <p:txBody>
          <a:bodyPr wrap="square" lIns="73152" rIns="73152" tIns="73152" bIns="73152">
            <a:lstStyle/>
          </a:bodyPr>
          <a:p>
            <a:pPr algn="l"/>
            <a:r>
              <a:rPr lang="en-US" sz="1100" b="0" i="0">
                <a:solidFill>
                  <a:srgbClr val="5B677A"/>
                </a:solidFill>
                <a:latin typeface="Aptos"/>
              </a:rPr>
              <a:t>DCP = 1.00</a:t>
            </a:r>
            <a:endParaRPr lang="en-US" sz="1100"/>
          </a:p>
        </p:txBody>
      </p:sp>
      <p:sp>
        <p:nvSpPr>
          <p:cNvPr id="19" name="Text 19"/>
          <p:cNvSpPr/>
          <p:nvPr/>
        </p:nvSpPr>
        <p:spPr>
          <a:xfrm>
            <a:off x="7315200" y="1508760"/>
            <a:ext cx="4023360" cy="233172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20" name="Text 20"/>
          <p:cNvSpPr/>
          <p:nvPr/>
        </p:nvSpPr>
        <p:spPr>
          <a:xfrm>
            <a:off x="7315200" y="1508760"/>
            <a:ext cx="73152" cy="2331720"/>
          </a:xfrm>
          <a:prstGeom prst="rect">
            <a:avLst/>
          </a:prstGeom>
          <a:solidFill>
            <a:srgbClr val="2E9D70"/>
          </a:solidFill>
          <a:ln w="11430">
            <a:solidFill>
              <a:srgbClr val="2E9D70"/>
            </a:solidFill>
          </a:ln>
        </p:spPr>
        <p:txBody>
          <a:bodyPr wrap="square" lIns="0" rIns="0" tIns="0" bIns="0">
            <a:lstStyle/>
          </a:bodyPr>
          <a:p>
            <a:pPr algn="l"/>
            <a:r>
              <a:rPr lang="en-US" sz="100" b="0" i="0">
                <a:solidFill>
                  <a:srgbClr val="18212F"/>
                </a:solidFill>
                <a:latin typeface="Aptos"/>
              </a:rPr>
              <a:t/>
            </a:r>
            <a:endParaRPr lang="en-US" sz="100"/>
          </a:p>
        </p:txBody>
      </p:sp>
      <p:sp>
        <p:nvSpPr>
          <p:cNvPr id="21" name="Text 21"/>
          <p:cNvSpPr/>
          <p:nvPr/>
        </p:nvSpPr>
        <p:spPr>
          <a:xfrm>
            <a:off x="7498079" y="1655063"/>
            <a:ext cx="370332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AI collective simulations</a:t>
            </a:r>
            <a:endParaRPr lang="en-US" sz="1500"/>
          </a:p>
        </p:txBody>
      </p:sp>
      <p:sp>
        <p:nvSpPr>
          <p:cNvPr id="22" name="Text 22"/>
          <p:cNvSpPr/>
          <p:nvPr/>
        </p:nvSpPr>
        <p:spPr>
          <a:xfrm>
            <a:off x="7498079" y="2057400"/>
            <a:ext cx="3703320" cy="1673351"/>
          </a:xfrm>
          <a:prstGeom prst="rect">
            <a:avLst/>
          </a:prstGeom>
          <a:noFill/>
          <a:ln>
            <a:noFill/>
          </a:ln>
        </p:spPr>
        <p:txBody>
          <a:bodyPr wrap="square" lIns="73152" rIns="73152" tIns="73152" bIns="73152">
            <a:lstStyle/>
          </a:bodyPr>
          <a:p>
            <a:pPr algn="l"/>
            <a:r>
              <a:rPr lang="en-US" sz="1400" b="0" i="0">
                <a:solidFill>
                  <a:srgbClr val="18212F"/>
                </a:solidFill>
                <a:latin typeface="Aptos"/>
              </a:rPr>
              <a:t>AllReduce JCT: DCP reported 38%, 44%, 61% lower than MP-RDMA, IRN, PFC.</a:t>
            </a:r>
            <a:endParaRPr lang="en-US" sz="1400"/>
          </a:p>
          <a:p>
            <a:pPr algn="l"/>
            <a:r>
              <a:rPr lang="en-US" sz="1400" b="0" i="0">
                <a:solidFill>
                  <a:srgbClr val="18212F"/>
                </a:solidFill>
                <a:latin typeface="Aptos"/>
              </a:rPr>
              <a:t>AllToAll JCT: 5%, 45%, 46% lower than those baselines.</a:t>
            </a:r>
            <a:endParaRPr lang="en-US" sz="1400"/>
          </a:p>
        </p:txBody>
      </p:sp>
      <p:sp>
        <p:nvSpPr>
          <p:cNvPr id="23" name="Text 23"/>
          <p:cNvSpPr/>
          <p:nvPr/>
        </p:nvSpPr>
        <p:spPr>
          <a:xfrm>
            <a:off x="7315200" y="4160520"/>
            <a:ext cx="4023360" cy="114300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24" name="Text 24"/>
          <p:cNvSpPr/>
          <p:nvPr/>
        </p:nvSpPr>
        <p:spPr>
          <a:xfrm>
            <a:off x="7315200" y="4160520"/>
            <a:ext cx="73152" cy="1143000"/>
          </a:xfrm>
          <a:prstGeom prst="rect">
            <a:avLst/>
          </a:prstGeom>
          <a:solidFill>
            <a:srgbClr val="2F6FED"/>
          </a:solidFill>
          <a:ln w="11430">
            <a:solidFill>
              <a:srgbClr val="2F6FED"/>
            </a:solidFill>
          </a:ln>
        </p:spPr>
        <p:txBody>
          <a:bodyPr wrap="square" lIns="0" rIns="0" tIns="0" bIns="0">
            <a:lstStyle/>
          </a:bodyPr>
          <a:p>
            <a:pPr algn="l"/>
            <a:r>
              <a:rPr lang="en-US" sz="100" b="0" i="0">
                <a:solidFill>
                  <a:srgbClr val="18212F"/>
                </a:solidFill>
                <a:latin typeface="Aptos"/>
              </a:rPr>
              <a:t/>
            </a:r>
            <a:endParaRPr lang="en-US" sz="100"/>
          </a:p>
        </p:txBody>
      </p:sp>
      <p:sp>
        <p:nvSpPr>
          <p:cNvPr id="25" name="Text 25"/>
          <p:cNvSpPr/>
          <p:nvPr/>
        </p:nvSpPr>
        <p:spPr>
          <a:xfrm>
            <a:off x="7498079" y="4306824"/>
            <a:ext cx="370332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Interpretation</a:t>
            </a:r>
            <a:endParaRPr lang="en-US" sz="1500"/>
          </a:p>
        </p:txBody>
      </p:sp>
      <p:sp>
        <p:nvSpPr>
          <p:cNvPr id="26" name="Text 26"/>
          <p:cNvSpPr/>
          <p:nvPr/>
        </p:nvSpPr>
        <p:spPr>
          <a:xfrm>
            <a:off x="7498079" y="4709159"/>
            <a:ext cx="3703320" cy="484632"/>
          </a:xfrm>
          <a:prstGeom prst="rect">
            <a:avLst/>
          </a:prstGeom>
          <a:noFill/>
          <a:ln>
            <a:noFill/>
          </a:ln>
        </p:spPr>
        <p:txBody>
          <a:bodyPr wrap="square" lIns="73152" rIns="73152" tIns="73152" bIns="73152">
            <a:lstStyle/>
          </a:bodyPr>
          <a:p>
            <a:pPr algn="l"/>
            <a:r>
              <a:rPr lang="en-US" sz="1400" b="0" i="0">
                <a:solidFill>
                  <a:srgbClr val="18212F"/>
                </a:solidFill>
                <a:latin typeface="Aptos"/>
              </a:rPr>
              <a:t>Synchronized collectives wait for stragglers. The result is about job completion, not just average packet throughput.</a:t>
            </a:r>
            <a:endParaRPr lang="en-US" sz="1400"/>
          </a:p>
        </p:txBody>
      </p:sp>
      <p:sp>
        <p:nvSpPr>
          <p:cNvPr id="27" name="Text 27"/>
          <p:cNvSpPr/>
          <p:nvPr/>
        </p:nvSpPr>
        <p:spPr>
          <a:xfrm>
            <a:off x="960120" y="5394960"/>
            <a:ext cx="5760720" cy="320040"/>
          </a:xfrm>
          <a:prstGeom prst="rect">
            <a:avLst/>
          </a:prstGeom>
          <a:noFill/>
          <a:ln>
            <a:noFill/>
          </a:ln>
        </p:spPr>
        <p:txBody>
          <a:bodyPr wrap="square" lIns="73152" rIns="73152" tIns="73152" bIns="73152">
            <a:lstStyle/>
          </a:bodyPr>
          <a:p>
            <a:pPr algn="ctr"/>
            <a:r>
              <a:rPr lang="en-US" sz="1400" b="0" i="1">
                <a:solidFill>
                  <a:srgbClr val="D95555"/>
                </a:solidFill>
                <a:latin typeface="Aptos"/>
              </a:rPr>
              <a:t>The bars are not raw measurements; use paper Figures 13–14 for exact plots.</a:t>
            </a:r>
            <a:endParaRPr lang="en-US" sz="1400"/>
          </a:p>
        </p:txBody>
      </p:sp>
    </p:spTree>
  </p:cSld>
  <p:clrMapOvr>
    <a:masterClrMapping/>
  </p:clrMapOvr>
</p:sld>
</file>

<file path=ppt/slides/slide18.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Long paths and congestion: the qualifications matter</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0:45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§§6.1–6.3; DCP Reference</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18</a:t>
            </a:r>
            <a:endParaRPr lang="en-US" sz="900"/>
          </a:p>
        </p:txBody>
      </p:sp>
      <p:sp>
        <p:nvSpPr>
          <p:cNvPr id="5" name="Text 5"/>
          <p:cNvSpPr/>
          <p:nvPr/>
        </p:nvSpPr>
        <p:spPr>
          <a:xfrm>
            <a:off x="731520" y="1234440"/>
            <a:ext cx="2834640" cy="91440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700" b="1" i="0">
                <a:solidFill>
                  <a:srgbClr val="18212F"/>
                </a:solidFill>
                <a:latin typeface="Aptos"/>
              </a:rPr>
              <a:t>10 km optical link</a:t>
            </a:r>
            <a:endParaRPr lang="en-US" sz="1700"/>
          </a:p>
          <a:p>
            <a:pPr algn="ctr"/>
            <a:r>
              <a:rPr lang="en-US" sz="1700" b="1" i="0">
                <a:solidFill>
                  <a:srgbClr val="18212F"/>
                </a:solidFill>
                <a:latin typeface="Aptos"/>
              </a:rPr>
              <a:t>~85 Gb/s reported</a:t>
            </a:r>
            <a:endParaRPr lang="en-US" sz="1700"/>
          </a:p>
        </p:txBody>
      </p:sp>
      <p:sp>
        <p:nvSpPr>
          <p:cNvPr id="6" name="Text 6"/>
          <p:cNvSpPr/>
          <p:nvPr/>
        </p:nvSpPr>
        <p:spPr>
          <a:xfrm>
            <a:off x="4617720" y="1234440"/>
            <a:ext cx="2834640" cy="91440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700" b="1" i="0">
                <a:solidFill>
                  <a:srgbClr val="18212F"/>
                </a:solidFill>
                <a:latin typeface="Aptos"/>
              </a:rPr>
              <a:t>Cross-DC simulation</a:t>
            </a:r>
            <a:endParaRPr lang="en-US" sz="1700"/>
          </a:p>
          <a:p>
            <a:pPr algn="ctr"/>
            <a:r>
              <a:rPr lang="en-US" sz="1700" b="1" i="0">
                <a:solidFill>
                  <a:srgbClr val="18212F"/>
                </a:solidFill>
                <a:latin typeface="Aptos"/>
              </a:rPr>
              <a:t>100 km / 1000 km-style delays</a:t>
            </a:r>
            <a:endParaRPr lang="en-US" sz="1700"/>
          </a:p>
        </p:txBody>
      </p:sp>
      <p:sp>
        <p:nvSpPr>
          <p:cNvPr id="7" name="Text 7"/>
          <p:cNvSpPr/>
          <p:nvPr/>
        </p:nvSpPr>
        <p:spPr>
          <a:xfrm>
            <a:off x="8503920" y="1234440"/>
            <a:ext cx="2834640" cy="914400"/>
          </a:xfrm>
          <a:prstGeom prst="roundRect">
            <a:avLst/>
          </a:prstGeom>
          <a:solidFill>
            <a:srgbClr val="FCECEC"/>
          </a:solidFill>
          <a:ln w="11430">
            <a:solidFill>
              <a:srgbClr val="D95555"/>
            </a:solidFill>
          </a:ln>
        </p:spPr>
        <p:txBody>
          <a:bodyPr wrap="square" lIns="91440" rIns="91440" tIns="91440" bIns="91440" anchor="ctr">
            <a:lstStyle/>
          </a:bodyPr>
          <a:p>
            <a:pPr algn="ctr"/>
            <a:r>
              <a:rPr lang="en-US" sz="1700" b="1" i="0">
                <a:solidFill>
                  <a:srgbClr val="18212F"/>
                </a:solidFill>
                <a:latin typeface="Aptos"/>
              </a:rPr>
              <a:t>Severe incast</a:t>
            </a:r>
            <a:endParaRPr lang="en-US" sz="1700"/>
          </a:p>
          <a:p>
            <a:pPr algn="ctr"/>
            <a:r>
              <a:rPr lang="en-US" sz="1700" b="1" i="0">
                <a:solidFill>
                  <a:srgbClr val="18212F"/>
                </a:solidFill>
                <a:latin typeface="Aptos"/>
              </a:rPr>
              <a:t>CC matters</a:t>
            </a:r>
            <a:endParaRPr lang="en-US" sz="1700"/>
          </a:p>
        </p:txBody>
      </p:sp>
      <p:sp>
        <p:nvSpPr>
          <p:cNvPr id="8" name="Text 8"/>
          <p:cNvSpPr/>
          <p:nvPr/>
        </p:nvSpPr>
        <p:spPr>
          <a:xfrm>
            <a:off x="914400" y="3246120"/>
            <a:ext cx="10241280" cy="685800"/>
          </a:xfrm>
          <a:prstGeom prst="rect">
            <a:avLst/>
          </a:prstGeom>
          <a:noFill/>
          <a:ln>
            <a:noFill/>
          </a:ln>
        </p:spPr>
        <p:txBody>
          <a:bodyPr wrap="square" lIns="73152" rIns="73152" tIns="73152" bIns="73152">
            <a:lstStyle/>
          </a:bodyPr>
          <a:p>
            <a:pPr algn="ctr" marL="0"/>
            <a:r>
              <a:rPr lang="en-US" sz="2000" b="1" i="0">
                <a:solidFill>
                  <a:srgbClr val="14213D"/>
                </a:solidFill>
                <a:latin typeface="Aptos"/>
              </a:rPr>
              <a:t>DCP’s value is not only loss recovery: it is also the ability to use packet-level routing and avoid requiring PFC headroom over long paths.</a:t>
            </a:r>
            <a:endParaRPr lang="en-US" sz="2000"/>
          </a:p>
        </p:txBody>
      </p:sp>
      <p:sp>
        <p:nvSpPr>
          <p:cNvPr id="9" name="Text 9"/>
          <p:cNvSpPr/>
          <p:nvPr/>
        </p:nvSpPr>
        <p:spPr>
          <a:xfrm>
            <a:off x="1188720" y="4663440"/>
            <a:ext cx="9692640" cy="594360"/>
          </a:xfrm>
          <a:prstGeom prst="rect">
            <a:avLst/>
          </a:prstGeom>
          <a:noFill/>
          <a:ln>
            <a:noFill/>
          </a:ln>
        </p:spPr>
        <p:txBody>
          <a:bodyPr wrap="square" lIns="73152" rIns="73152" tIns="73152" bIns="73152">
            <a:lstStyle/>
          </a:bodyPr>
          <a:p>
            <a:pPr algn="ctr"/>
            <a:r>
              <a:rPr lang="en-US" sz="1600" b="0" i="0">
                <a:solidFill>
                  <a:srgbClr val="D95555"/>
                </a:solidFill>
                <a:latin typeface="Aptos"/>
              </a:rPr>
              <a:t>But reliability ≠ congestion control. The paper reports poor tail behavior without CC under severe load; DCP+CC performs best in those tested settings.</a:t>
            </a:r>
            <a:endParaRPr lang="en-US" sz="1600"/>
          </a:p>
        </p:txBody>
      </p:sp>
    </p:spTree>
  </p:cSld>
  <p:clrMapOvr>
    <a:masterClrMapping/>
  </p:clrMapOvr>
</p:sld>
</file>

<file path=ppt/slides/slide19.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Our critique and open questions</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1:05</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Networking reference; DCP §§4.5, 6.3, 7</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19</a:t>
            </a:r>
            <a:endParaRPr lang="en-US" sz="900"/>
          </a:p>
        </p:txBody>
      </p:sp>
      <p:sp>
        <p:nvSpPr>
          <p:cNvPr id="5" name="Text 5"/>
          <p:cNvSpPr/>
          <p:nvPr/>
        </p:nvSpPr>
        <p:spPr>
          <a:xfrm>
            <a:off x="685800" y="1143000"/>
            <a:ext cx="5212080" cy="315468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6" name="Text 6"/>
          <p:cNvSpPr/>
          <p:nvPr/>
        </p:nvSpPr>
        <p:spPr>
          <a:xfrm>
            <a:off x="685800" y="1143000"/>
            <a:ext cx="73152" cy="3154680"/>
          </a:xfrm>
          <a:prstGeom prst="rect">
            <a:avLst/>
          </a:prstGeom>
          <a:solidFill>
            <a:srgbClr val="2E9D70"/>
          </a:solidFill>
          <a:ln w="11430">
            <a:solidFill>
              <a:srgbClr val="2E9D70"/>
            </a:solidFill>
          </a:ln>
        </p:spPr>
        <p:txBody>
          <a:bodyPr wrap="square" lIns="0" rIns="0" tIns="0" bIns="0">
            <a:lstStyle/>
          </a:bodyPr>
          <a:p>
            <a:pPr algn="l"/>
            <a:r>
              <a:rPr lang="en-US" sz="100" b="0" i="0">
                <a:solidFill>
                  <a:srgbClr val="18212F"/>
                </a:solidFill>
                <a:latin typeface="Aptos"/>
              </a:rPr>
              <a:t/>
            </a:r>
            <a:endParaRPr lang="en-US" sz="100"/>
          </a:p>
        </p:txBody>
      </p:sp>
      <p:sp>
        <p:nvSpPr>
          <p:cNvPr id="7" name="Text 7"/>
          <p:cNvSpPr/>
          <p:nvPr/>
        </p:nvSpPr>
        <p:spPr>
          <a:xfrm>
            <a:off x="868680" y="1289304"/>
            <a:ext cx="48920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What DCP does well</a:t>
            </a:r>
            <a:endParaRPr lang="en-US" sz="1500"/>
          </a:p>
        </p:txBody>
      </p:sp>
      <p:sp>
        <p:nvSpPr>
          <p:cNvPr id="8" name="Text 8"/>
          <p:cNvSpPr/>
          <p:nvPr/>
        </p:nvSpPr>
        <p:spPr>
          <a:xfrm>
            <a:off x="868680" y="1691640"/>
            <a:ext cx="4892040" cy="2496312"/>
          </a:xfrm>
          <a:prstGeom prst="rect">
            <a:avLst/>
          </a:prstGeom>
          <a:noFill/>
          <a:ln>
            <a:noFill/>
          </a:ln>
        </p:spPr>
        <p:txBody>
          <a:bodyPr wrap="square" lIns="73152" rIns="73152" tIns="73152" bIns="73152">
            <a:lstStyle/>
          </a:bodyPr>
          <a:p>
            <a:pPr algn="l"/>
            <a:r>
              <a:rPr lang="en-US" sz="1600" b="0" i="0">
                <a:solidFill>
                  <a:srgbClr val="18212F"/>
                </a:solidFill>
                <a:latin typeface="Aptos"/>
              </a:rPr>
              <a:t>• separates loss evidence from data</a:t>
            </a:r>
            <a:endParaRPr lang="en-US" sz="1600"/>
          </a:p>
          <a:p>
            <a:pPr algn="l"/>
            <a:r>
              <a:rPr lang="en-US" sz="1600" b="0" i="0">
                <a:solidFill>
                  <a:srgbClr val="18212F"/>
                </a:solidFill>
                <a:latin typeface="Aptos"/>
              </a:rPr>
              <a:t>• supports packet-level paths</a:t>
            </a:r>
            <a:endParaRPr lang="en-US" sz="1600"/>
          </a:p>
          <a:p>
            <a:pPr algn="l"/>
            <a:r>
              <a:rPr lang="en-US" sz="1600" b="0" i="0">
                <a:solidFill>
                  <a:srgbClr val="18212F"/>
                </a:solidFill>
                <a:latin typeface="Aptos"/>
              </a:rPr>
              <a:t>• avoids ordinary fast-path RTOs</a:t>
            </a:r>
            <a:endParaRPr lang="en-US" sz="1600"/>
          </a:p>
          <a:p>
            <a:pPr algn="l"/>
            <a:r>
              <a:rPr lang="en-US" sz="1600" b="0" i="0">
                <a:solidFill>
                  <a:srgbClr val="18212F"/>
                </a:solidFill>
                <a:latin typeface="Aptos"/>
              </a:rPr>
              <a:t>• fits a hardware-oriented story</a:t>
            </a:r>
            <a:endParaRPr lang="en-US" sz="1600"/>
          </a:p>
        </p:txBody>
      </p:sp>
      <p:sp>
        <p:nvSpPr>
          <p:cNvPr id="9" name="Text 9"/>
          <p:cNvSpPr/>
          <p:nvPr/>
        </p:nvSpPr>
        <p:spPr>
          <a:xfrm>
            <a:off x="6309360" y="1143000"/>
            <a:ext cx="5212080" cy="3154680"/>
          </a:xfrm>
          <a:prstGeom prst="roundRect">
            <a:avLst/>
          </a:prstGeom>
          <a:solidFill>
            <a:srgbClr val="FFFFFF"/>
          </a:solidFill>
          <a:ln w="11430">
            <a:solidFill>
              <a:srgbClr val="D9E1EF"/>
            </a:solidFill>
          </a:ln>
        </p:spPr>
        <p:txBody>
          <a:bodyPr wrap="square" lIns="0" rIns="0" tIns="0" bIns="0">
            <a:lstStyle/>
          </a:bodyPr>
          <a:p>
            <a:pPr algn="l"/>
            <a:r>
              <a:rPr lang="en-US" sz="100" b="0" i="0">
                <a:solidFill>
                  <a:srgbClr val="18212F"/>
                </a:solidFill>
                <a:latin typeface="Aptos"/>
              </a:rPr>
              <a:t/>
            </a:r>
            <a:endParaRPr lang="en-US" sz="100"/>
          </a:p>
        </p:txBody>
      </p:sp>
      <p:sp>
        <p:nvSpPr>
          <p:cNvPr id="10" name="Text 10"/>
          <p:cNvSpPr/>
          <p:nvPr/>
        </p:nvSpPr>
        <p:spPr>
          <a:xfrm>
            <a:off x="6309360" y="1143000"/>
            <a:ext cx="73152" cy="3154680"/>
          </a:xfrm>
          <a:prstGeom prst="rect">
            <a:avLst/>
          </a:prstGeom>
          <a:solidFill>
            <a:srgbClr val="F59E0B"/>
          </a:solidFill>
          <a:ln w="11430">
            <a:solidFill>
              <a:srgbClr val="F59E0B"/>
            </a:solidFill>
          </a:ln>
        </p:spPr>
        <p:txBody>
          <a:bodyPr wrap="square" lIns="0" rIns="0" tIns="0" bIns="0">
            <a:lstStyle/>
          </a:bodyPr>
          <a:p>
            <a:pPr algn="l"/>
            <a:r>
              <a:rPr lang="en-US" sz="100" b="0" i="0">
                <a:solidFill>
                  <a:srgbClr val="18212F"/>
                </a:solidFill>
                <a:latin typeface="Aptos"/>
              </a:rPr>
              <a:t/>
            </a:r>
            <a:endParaRPr lang="en-US" sz="100"/>
          </a:p>
        </p:txBody>
      </p:sp>
      <p:sp>
        <p:nvSpPr>
          <p:cNvPr id="11" name="Text 11"/>
          <p:cNvSpPr/>
          <p:nvPr/>
        </p:nvSpPr>
        <p:spPr>
          <a:xfrm>
            <a:off x="6492240" y="1289304"/>
            <a:ext cx="4892040" cy="310896"/>
          </a:xfrm>
          <a:prstGeom prst="rect">
            <a:avLst/>
          </a:prstGeom>
          <a:noFill/>
          <a:ln>
            <a:noFill/>
          </a:ln>
        </p:spPr>
        <p:txBody>
          <a:bodyPr wrap="square" lIns="73152" rIns="73152" tIns="73152" bIns="73152">
            <a:lstStyle/>
          </a:bodyPr>
          <a:p>
            <a:pPr algn="l"/>
            <a:r>
              <a:rPr lang="en-US" sz="1500" b="1" i="0">
                <a:solidFill>
                  <a:srgbClr val="14213D"/>
                </a:solidFill>
                <a:latin typeface="Aptos"/>
              </a:rPr>
              <a:t>Questions we would ask</a:t>
            </a:r>
            <a:endParaRPr lang="en-US" sz="1500"/>
          </a:p>
        </p:txBody>
      </p:sp>
      <p:sp>
        <p:nvSpPr>
          <p:cNvPr id="12" name="Text 12"/>
          <p:cNvSpPr/>
          <p:nvPr/>
        </p:nvSpPr>
        <p:spPr>
          <a:xfrm>
            <a:off x="6492240" y="1691640"/>
            <a:ext cx="4892040" cy="2496312"/>
          </a:xfrm>
          <a:prstGeom prst="rect">
            <a:avLst/>
          </a:prstGeom>
          <a:noFill/>
          <a:ln>
            <a:noFill/>
          </a:ln>
        </p:spPr>
        <p:txBody>
          <a:bodyPr wrap="square" lIns="73152" rIns="73152" tIns="73152" bIns="73152">
            <a:lstStyle/>
          </a:bodyPr>
          <a:p>
            <a:pPr algn="l"/>
            <a:r>
              <a:rPr lang="en-US" sz="1600" b="0" i="0">
                <a:solidFill>
                  <a:srgbClr val="18212F"/>
                </a:solidFill>
                <a:latin typeface="Aptos"/>
              </a:rPr>
              <a:t>• switch + RNIC rollout compatibility</a:t>
            </a:r>
            <a:endParaRPr lang="en-US" sz="1600"/>
          </a:p>
          <a:p>
            <a:pPr algn="l"/>
            <a:r>
              <a:rPr lang="en-US" sz="1600" b="0" i="0">
                <a:solidFill>
                  <a:srgbClr val="18212F"/>
                </a:solidFill>
                <a:latin typeface="Aptos"/>
              </a:rPr>
              <a:t>• what happens outside scheduling assumptions?</a:t>
            </a:r>
            <a:endParaRPr lang="en-US" sz="1600"/>
          </a:p>
          <a:p>
            <a:pPr algn="l"/>
            <a:r>
              <a:rPr lang="en-US" sz="1600" b="0" i="0">
                <a:solidFill>
                  <a:srgbClr val="18212F"/>
                </a:solidFill>
                <a:latin typeface="Aptos"/>
              </a:rPr>
              <a:t>• robustness of counting under duplicates/failures</a:t>
            </a:r>
            <a:endParaRPr lang="en-US" sz="1600"/>
          </a:p>
          <a:p>
            <a:pPr algn="l"/>
            <a:r>
              <a:rPr lang="en-US" sz="1600" b="0" i="0">
                <a:solidFill>
                  <a:srgbClr val="18212F"/>
                </a:solidFill>
                <a:latin typeface="Aptos"/>
              </a:rPr>
              <a:t>• how much gain is routing vs recovery?</a:t>
            </a:r>
            <a:endParaRPr lang="en-US" sz="1600"/>
          </a:p>
        </p:txBody>
      </p:sp>
      <p:sp>
        <p:nvSpPr>
          <p:cNvPr id="13" name="Text 13"/>
          <p:cNvSpPr/>
          <p:nvPr/>
        </p:nvSpPr>
        <p:spPr>
          <a:xfrm>
            <a:off x="1097280" y="5074920"/>
            <a:ext cx="9966960" cy="502920"/>
          </a:xfrm>
          <a:prstGeom prst="rect">
            <a:avLst/>
          </a:prstGeom>
          <a:noFill/>
          <a:ln>
            <a:noFill/>
          </a:ln>
        </p:spPr>
        <p:txBody>
          <a:bodyPr wrap="square" lIns="73152" rIns="73152" tIns="73152" bIns="73152">
            <a:lstStyle/>
          </a:bodyPr>
          <a:p>
            <a:pPr algn="ctr" marL="0"/>
            <a:r>
              <a:rPr lang="en-US" sz="2000" b="1" i="0">
                <a:solidFill>
                  <a:srgbClr val="14213D"/>
                </a:solidFill>
                <a:latin typeface="Aptos"/>
              </a:rPr>
              <a:t>Our critique: strong co-design idea, conditional guarantees, and a deployment story still to be proven.</a:t>
            </a:r>
            <a:endParaRPr lang="en-US" sz="2000"/>
          </a:p>
        </p:txBody>
      </p:sp>
    </p:spTree>
  </p:cSld>
  <p:clrMapOvr>
    <a:masterClrMapping/>
  </p:clrMapOvr>
</p:sld>
</file>

<file path=ppt/slides/slide20.xml><?xml version="1.0" encoding="utf-8"?>
<p:sld xmlns:a="http://schemas.openxmlformats.org/drawingml/2006/main" xmlns:p="http://schemas.openxmlformats.org/presentationml/2006/main">
  <p:cSld>
    <p:spTree>
      <p:nvGrpSpPr>
        <p:cNvPr id="1" name=""/>
        <p:cNvGrpSpPr/>
        <p:nvPr/>
      </p:nvGrpSpPr>
      <p:grpSpPr/>
      <p:sp>
        <p:nvSpPr>
          <p:cNvPr id="1" name="Text 1"/>
          <p:cNvSpPr/>
          <p:nvPr/>
        </p:nvSpPr>
        <p:spPr>
          <a:xfrm>
            <a:off x="502920" y="256032"/>
            <a:ext cx="8869680" cy="438912"/>
          </a:xfrm>
          <a:prstGeom prst="rect">
            <a:avLst/>
          </a:prstGeom>
          <a:noFill/>
          <a:ln>
            <a:noFill/>
          </a:ln>
        </p:spPr>
        <p:txBody>
          <a:bodyPr wrap="square" lIns="73152" rIns="73152" tIns="73152" bIns="73152">
            <a:lstStyle/>
          </a:bodyPr>
          <a:p>
            <a:pPr algn="l" marL="0"/>
            <a:r>
              <a:rPr lang="en-US" sz="2500" b="1" i="0">
                <a:solidFill>
                  <a:srgbClr val="14213D"/>
                </a:solidFill>
                <a:latin typeface="Aptos"/>
              </a:rPr>
              <a:t>Takeaways and discussion</a:t>
            </a:r>
            <a:endParaRPr lang="en-US" sz="2500"/>
          </a:p>
        </p:txBody>
      </p:sp>
      <p:sp>
        <p:nvSpPr>
          <p:cNvPr id="2" name="Text 2"/>
          <p:cNvSpPr/>
          <p:nvPr/>
        </p:nvSpPr>
        <p:spPr>
          <a:xfrm>
            <a:off x="10241280" y="310896"/>
            <a:ext cx="1417320" cy="274320"/>
          </a:xfrm>
          <a:prstGeom prst="rect">
            <a:avLst/>
          </a:prstGeom>
          <a:noFill/>
          <a:ln>
            <a:noFill/>
          </a:ln>
        </p:spPr>
        <p:txBody>
          <a:bodyPr wrap="square" lIns="73152" rIns="73152" tIns="73152" bIns="73152">
            <a:lstStyle/>
          </a:bodyPr>
          <a:p>
            <a:pPr algn="r"/>
            <a:r>
              <a:rPr lang="en-US" sz="1100" b="1" i="0">
                <a:solidFill>
                  <a:srgbClr val="2F6FED"/>
                </a:solidFill>
                <a:latin typeface="Aptos"/>
              </a:rPr>
              <a:t>0:20</a:t>
            </a:r>
            <a:endParaRPr lang="en-US" sz="1100"/>
          </a:p>
        </p:txBody>
      </p:sp>
      <p:sp>
        <p:nvSpPr>
          <p:cNvPr id="3" name="Text 3"/>
          <p:cNvSpPr/>
          <p:nvPr/>
        </p:nvSpPr>
        <p:spPr>
          <a:xfrm>
            <a:off x="530352" y="6510528"/>
            <a:ext cx="9692640" cy="164592"/>
          </a:xfrm>
          <a:prstGeom prst="rect">
            <a:avLst/>
          </a:prstGeom>
          <a:noFill/>
          <a:ln>
            <a:noFill/>
          </a:ln>
        </p:spPr>
        <p:txBody>
          <a:bodyPr wrap="square" lIns="73152" rIns="73152" tIns="73152" bIns="73152">
            <a:lstStyle/>
          </a:bodyPr>
          <a:p>
            <a:pPr algn="l"/>
            <a:r>
              <a:rPr lang="en-US" sz="850" b="0" i="0">
                <a:solidFill>
                  <a:srgbClr val="5B677A"/>
                </a:solidFill>
                <a:latin typeface="Aptos"/>
              </a:rPr>
              <a:t>Paper §§1–7; Q&amp;A</a:t>
            </a:r>
            <a:endParaRPr lang="en-US" sz="850"/>
          </a:p>
        </p:txBody>
      </p:sp>
      <p:sp>
        <p:nvSpPr>
          <p:cNvPr id="4" name="Text 4"/>
          <p:cNvSpPr/>
          <p:nvPr/>
        </p:nvSpPr>
        <p:spPr>
          <a:xfrm>
            <a:off x="11292840" y="6492240"/>
            <a:ext cx="365760" cy="182880"/>
          </a:xfrm>
          <a:prstGeom prst="rect">
            <a:avLst/>
          </a:prstGeom>
          <a:noFill/>
          <a:ln>
            <a:noFill/>
          </a:ln>
        </p:spPr>
        <p:txBody>
          <a:bodyPr wrap="square" lIns="73152" rIns="73152" tIns="73152" bIns="73152">
            <a:lstStyle/>
          </a:bodyPr>
          <a:p>
            <a:pPr algn="r"/>
            <a:r>
              <a:rPr lang="en-US" sz="900" b="0" i="0">
                <a:solidFill>
                  <a:srgbClr val="5B677A"/>
                </a:solidFill>
                <a:latin typeface="Aptos"/>
              </a:rPr>
              <a:t>20</a:t>
            </a:r>
            <a:endParaRPr lang="en-US" sz="900"/>
          </a:p>
        </p:txBody>
      </p:sp>
      <p:sp>
        <p:nvSpPr>
          <p:cNvPr id="5" name="Text 5"/>
          <p:cNvSpPr/>
          <p:nvPr/>
        </p:nvSpPr>
        <p:spPr>
          <a:xfrm>
            <a:off x="822960" y="914400"/>
            <a:ext cx="10515600" cy="365760"/>
          </a:xfrm>
          <a:prstGeom prst="rect">
            <a:avLst/>
          </a:prstGeom>
          <a:noFill/>
          <a:ln>
            <a:noFill/>
          </a:ln>
        </p:spPr>
        <p:txBody>
          <a:bodyPr wrap="square" lIns="73152" rIns="73152" tIns="73152" bIns="73152">
            <a:lstStyle/>
          </a:bodyPr>
          <a:p>
            <a:pPr algn="ctr" marL="0"/>
            <a:r>
              <a:rPr lang="en-US" sz="2500" b="1" i="0">
                <a:solidFill>
                  <a:srgbClr val="14213D"/>
                </a:solidFill>
                <a:latin typeface="Aptos"/>
              </a:rPr>
              <a:t>Three takeaways</a:t>
            </a:r>
            <a:endParaRPr lang="en-US" sz="2500"/>
          </a:p>
        </p:txBody>
      </p:sp>
      <p:sp>
        <p:nvSpPr>
          <p:cNvPr id="6" name="Text 6"/>
          <p:cNvSpPr/>
          <p:nvPr/>
        </p:nvSpPr>
        <p:spPr>
          <a:xfrm>
            <a:off x="1097280" y="1691640"/>
            <a:ext cx="9966960" cy="731520"/>
          </a:xfrm>
          <a:prstGeom prst="roundRect">
            <a:avLst/>
          </a:prstGeom>
          <a:solidFill>
            <a:srgbClr val="EAF1FF"/>
          </a:solidFill>
          <a:ln w="11430">
            <a:solidFill>
              <a:srgbClr val="2F6FED"/>
            </a:solidFill>
          </a:ln>
        </p:spPr>
        <p:txBody>
          <a:bodyPr wrap="square" lIns="91440" rIns="91440" tIns="91440" bIns="91440" anchor="ctr">
            <a:lstStyle/>
          </a:bodyPr>
          <a:p>
            <a:pPr algn="ctr"/>
            <a:r>
              <a:rPr lang="en-US" sz="1700" b="1" i="0">
                <a:solidFill>
                  <a:srgbClr val="18212F"/>
                </a:solidFill>
                <a:latin typeface="Aptos"/>
              </a:rPr>
              <a:t>1</a:t>
            </a:r>
            <a:endParaRPr lang="en-US" sz="1700"/>
          </a:p>
          <a:p>
            <a:pPr algn="ctr"/>
            <a:r>
              <a:rPr lang="en-US" sz="1700" b="1" i="0">
                <a:solidFill>
                  <a:srgbClr val="18212F"/>
                </a:solidFill>
                <a:latin typeface="Aptos"/>
              </a:rPr>
              <a:t>RDMA is a division of labor: RNIC hardware moves the fast path.</a:t>
            </a:r>
            <a:endParaRPr lang="en-US" sz="1700"/>
          </a:p>
        </p:txBody>
      </p:sp>
      <p:sp>
        <p:nvSpPr>
          <p:cNvPr id="7" name="Text 7"/>
          <p:cNvSpPr/>
          <p:nvPr/>
        </p:nvSpPr>
        <p:spPr>
          <a:xfrm>
            <a:off x="1097280" y="2697480"/>
            <a:ext cx="9966960" cy="731520"/>
          </a:xfrm>
          <a:prstGeom prst="roundRect">
            <a:avLst/>
          </a:prstGeom>
          <a:solidFill>
            <a:srgbClr val="FFF4DD"/>
          </a:solidFill>
          <a:ln w="11430">
            <a:solidFill>
              <a:srgbClr val="F59E0B"/>
            </a:solidFill>
          </a:ln>
        </p:spPr>
        <p:txBody>
          <a:bodyPr wrap="square" lIns="91440" rIns="91440" tIns="91440" bIns="91440" anchor="ctr">
            <a:lstStyle/>
          </a:bodyPr>
          <a:p>
            <a:pPr algn="ctr"/>
            <a:r>
              <a:rPr lang="en-US" sz="1700" b="1" i="0">
                <a:solidFill>
                  <a:srgbClr val="18212F"/>
                </a:solidFill>
                <a:latin typeface="Aptos"/>
              </a:rPr>
              <a:t>2</a:t>
            </a:r>
            <a:endParaRPr lang="en-US" sz="1700"/>
          </a:p>
          <a:p>
            <a:pPr algn="ctr"/>
            <a:r>
              <a:rPr lang="en-US" sz="1700" b="1" i="0">
                <a:solidFill>
                  <a:srgbClr val="18212F"/>
                </a:solidFill>
                <a:latin typeface="Aptos"/>
              </a:rPr>
              <a:t>PFC protects packets but can spread congestion and limit deployment.</a:t>
            </a:r>
            <a:endParaRPr lang="en-US" sz="1700"/>
          </a:p>
        </p:txBody>
      </p:sp>
      <p:sp>
        <p:nvSpPr>
          <p:cNvPr id="8" name="Text 8"/>
          <p:cNvSpPr/>
          <p:nvPr/>
        </p:nvSpPr>
        <p:spPr>
          <a:xfrm>
            <a:off x="1097280" y="3703320"/>
            <a:ext cx="9966960" cy="731520"/>
          </a:xfrm>
          <a:prstGeom prst="roundRect">
            <a:avLst/>
          </a:prstGeom>
          <a:solidFill>
            <a:srgbClr val="E8FAFC"/>
          </a:solidFill>
          <a:ln w="11430">
            <a:solidFill>
              <a:srgbClr val="24B6C7"/>
            </a:solidFill>
          </a:ln>
        </p:spPr>
        <p:txBody>
          <a:bodyPr wrap="square" lIns="91440" rIns="91440" tIns="91440" bIns="91440" anchor="ctr">
            <a:lstStyle/>
          </a:bodyPr>
          <a:p>
            <a:pPr algn="ctr"/>
            <a:r>
              <a:rPr lang="en-US" sz="1700" b="1" i="0">
                <a:solidFill>
                  <a:srgbClr val="18212F"/>
                </a:solidFill>
                <a:latin typeface="Aptos"/>
              </a:rPr>
              <a:t>3</a:t>
            </a:r>
            <a:endParaRPr lang="en-US" sz="1700"/>
          </a:p>
          <a:p>
            <a:pPr algn="ctr"/>
            <a:r>
              <a:rPr lang="en-US" sz="1700" b="1" i="0">
                <a:solidFill>
                  <a:srgbClr val="18212F"/>
                </a:solidFill>
                <a:latin typeface="Aptos"/>
              </a:rPr>
              <a:t>DCP makes losses explicit with a trimmed header, then uses RNIC hardware to recover precisely.</a:t>
            </a:r>
            <a:endParaRPr lang="en-US" sz="1700"/>
          </a:p>
        </p:txBody>
      </p:sp>
      <p:sp>
        <p:nvSpPr>
          <p:cNvPr id="9" name="Text 9"/>
          <p:cNvSpPr/>
          <p:nvPr/>
        </p:nvSpPr>
        <p:spPr>
          <a:xfrm>
            <a:off x="1051560" y="5074920"/>
            <a:ext cx="10058400" cy="640080"/>
          </a:xfrm>
          <a:prstGeom prst="rect">
            <a:avLst/>
          </a:prstGeom>
          <a:noFill/>
          <a:ln>
            <a:noFill/>
          </a:ln>
        </p:spPr>
        <p:txBody>
          <a:bodyPr wrap="square" lIns="73152" rIns="73152" tIns="73152" bIns="73152">
            <a:lstStyle/>
          </a:bodyPr>
          <a:p>
            <a:pPr algn="ctr" marL="0"/>
            <a:r>
              <a:rPr lang="en-US" sz="1900" b="1" i="0">
                <a:solidFill>
                  <a:srgbClr val="176B4C"/>
                </a:solidFill>
                <a:latin typeface="Aptos"/>
              </a:rPr>
              <a:t>Question: is a small, protected control plane easier to operate than a globally lossless fabric?</a:t>
            </a:r>
            <a:endParaRPr lang="en-US" sz="1900"/>
          </a:p>
        </p:txBody>
      </p:sp>
    </p:spTree>
  </p:cSld>
  <p:clrMapOvr>
    <a:masterClrMapping/>
  </p:clrMapOvr>
</p:sld>
</file>

<file path=ppt/theme/theme1.xml><?xml version="1.0" encoding="utf-8"?>
<a:theme xmlns:a="http://schemas.openxmlformats.org/drawingml/2006/main" name="DCP Theme">
  <a:themeElements>
    <a:clrScheme name="DCP">
      <a:dk1>
        <a:srgbClr val="18212F"/>
      </a:dk1>
      <a:lt1>
        <a:srgbClr val="FFFFFF"/>
      </a:lt1>
      <a:dk2>
        <a:srgbClr val="14213D"/>
      </a:dk2>
      <a:lt2>
        <a:srgbClr val="F5F7FB"/>
      </a:lt2>
      <a:accent1>
        <a:srgbClr val="2F6FED"/>
      </a:accent1>
      <a:accent2>
        <a:srgbClr val="24B6C7"/>
      </a:accent2>
      <a:accent3>
        <a:srgbClr val="2E9D70"/>
      </a:accent3>
      <a:accent4>
        <a:srgbClr val="F59E0B"/>
      </a:accent4>
      <a:accent5>
        <a:srgbClr val="D95555"/>
      </a:accent5>
      <a:accent6>
        <a:srgbClr val="5B677A"/>
      </a:accent6>
      <a:hlink>
        <a:srgbClr val="2F6FED"/>
      </a:hlink>
      <a:folHlink>
        <a:srgbClr val="D95555"/>
      </a:folHlink>
    </a:clrScheme>
    <a:fontScheme name="DCP">
      <a:majorFont>
        <a:latin typeface="Aptos Display"/>
      </a:majorFont>
      <a:minorFont>
        <a:latin typeface="Aptos"/>
      </a:minorFont>
    </a:fontScheme>
    <a:fmtScheme name="DCP">
      <a:fillStyleLst/>
      <a:lnStyleLst/>
      <a:effectStyleLst/>
      <a:bgFillStyleLst/>
    </a:fmtScheme>
  </a:themeElements>
</a:theme>
</file>

<file path=docProps/app.xml><?xml version="1.0" encoding="utf-8"?>
<Properties xmlns="http://schemas.openxmlformats.org/officeDocument/2006/extended-properties">
  <Application>LibreOffice-compatible OOXML generator</Application>
  <Slides>20</Slides>
</Properties>
</file>

<file path=docProps/core.xml><?xml version="1.0" encoding="utf-8"?>
<cp:coreProperties xmlns:cp="http://schemas.openxmlformats.org/package/2006/metadata/core-properties" xmlns:dc="http://purl.org/dc/elements/1.1/">
  <dc:title>Revisiting RDMA Reliability for Lossy Fabrics</dc:title>
  <dc:creator>CS6101 project</dc:creator>
</cp:coreProperties>
</file>